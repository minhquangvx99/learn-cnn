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o Minh Quang 20173326" initials="NMQ2" lastIdx="16" clrIdx="0">
    <p:extLst>
      <p:ext uri="{19B8F6BF-5375-455C-9EA6-DF929625EA0E}">
        <p15:presenceInfo xmlns:p15="http://schemas.microsoft.com/office/powerpoint/2012/main" userId="Ngo Minh Quang 20173326"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commentAuthors" Target="commen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5-20T10:03:15.351" idx="2">
    <p:pos x="2782" y="1464"/>
    <p:text>+ ma trận đầu vào                                                 + bộ filters (kernels- mặt nạ nhân chập)                                               + receptive field (vùng tương ứng với filter)                                         + feature map (ma trận đầu ra).</p:text>
    <p:extLst>
      <p:ext uri="{C676402C-5697-4E1C-873F-D02D1690AC5C}">
        <p15:threadingInfo xmlns:p15="http://schemas.microsoft.com/office/powerpoint/2012/main" timeZoneBias="-420"/>
      </p:ext>
    </p:extLst>
  </p:cm>
  <p:cm authorId="1" dt="2020-05-20T10:07:34.254" idx="5">
    <p:pos x="3354" y="1811"/>
    <p:text>+Kích thước bộ filter (3x3,5x5)                                      +Tham số stride, thể hiện số pixel cần phải dịch chuyển mỗi khi trượt bộ filter qua bức ảnh.                             +Padding: một cách đơn giản và phổ biến nhất để padding là sử dụng hàng số 0.</p:text>
    <p:extLst>
      <p:ext uri="{C676402C-5697-4E1C-873F-D02D1690AC5C}">
        <p15:threadingInfo xmlns:p15="http://schemas.microsoft.com/office/powerpoint/2012/main" timeZoneBias="-420"/>
      </p:ext>
    </p:extLst>
  </p:cm>
  <p:cm authorId="1" dt="2020-05-20T23:41:01.555" idx="14">
    <p:pos x="1766" y="2061"/>
    <p:text>Output : R + G + B + bias(=1)</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05-20T10:16:27.386" idx="7">
    <p:pos x="5189" y="1372"/>
    <p:text>Sigmoid: đầu vào là các số thực và cho kết quả nằm trong khoảng [0,1].</p:text>
    <p:extLst>
      <p:ext uri="{C676402C-5697-4E1C-873F-D02D1690AC5C}">
        <p15:threadingInfo xmlns:p15="http://schemas.microsoft.com/office/powerpoint/2012/main" timeZoneBias="-420"/>
      </p:ext>
    </p:extLst>
  </p:cm>
  <p:cm authorId="1" dt="2020-05-20T10:16:45.555" idx="8">
    <p:pos x="6406" y="1328"/>
    <p:text>ReLU sẽ gán những giá trị âm bằng 0 và giữ nguyên giá trị của đầu vào khi lớn hơn 0.</p:text>
    <p:extLst>
      <p:ext uri="{C676402C-5697-4E1C-873F-D02D1690AC5C}">
        <p15:threadingInfo xmlns:p15="http://schemas.microsoft.com/office/powerpoint/2012/main" timeZoneBias="-420"/>
      </p:ext>
    </p:extLst>
  </p:cm>
  <p:cm authorId="1" dt="2020-05-20T21:33:36.993" idx="11">
    <p:pos x="1741" y="1178"/>
    <p:text>Hoạt động như cổng hoặc ngưỡng để chọn các tính năng tốt nhất. Nó không chọn một ngưỡng duy nhất nhưng nó biến đầu ra của lớp Convolutional thành số trong phạm vi cố định hoặc bán cố định, để có được một ánh xạ phi tuyến giúp cho việc training các Deep Networks nhanh hơn rất nhiều.</p:text>
    <p:extLst>
      <p:ext uri="{C676402C-5697-4E1C-873F-D02D1690AC5C}">
        <p15:threadingInfo xmlns:p15="http://schemas.microsoft.com/office/powerpoint/2012/main"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0-05-20T10:26:38.931" idx="9">
    <p:pos x="1693" y="1176"/>
    <p:text>giảm chiều tầng trước đó mà vẫn giữ được thông tin quan trọng và giảm thời gian training.</p:text>
    <p:extLst>
      <p:ext uri="{C676402C-5697-4E1C-873F-D02D1690AC5C}">
        <p15:threadingInfo xmlns:p15="http://schemas.microsoft.com/office/powerpoint/2012/main" timeZoneBias="-420"/>
      </p:ext>
    </p:extLst>
  </p:cm>
  <p:cm authorId="1" dt="2020-05-20T23:43:38.396" idx="15">
    <p:pos x="1830" y="1984"/>
    <p:text>Quy tắc về stride và padding áp dụng như phép tính convolution trên ảnh.</p:text>
    <p:extLst>
      <p:ext uri="{C676402C-5697-4E1C-873F-D02D1690AC5C}">
        <p15:threadingInfo xmlns:p15="http://schemas.microsoft.com/office/powerpoint/2012/main" timeZoneBias="-4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0-05-20T10:31:48.009" idx="10">
    <p:pos x="1674" y="1176"/>
    <p:text>Chuyển ma trận đặc trưng ở tầng trước thành vector chứa xác suất của các đối tượng cần được dự đoán và phân loại đầu ra.</p:text>
    <p:extLst>
      <p:ext uri="{C676402C-5697-4E1C-873F-D02D1690AC5C}">
        <p15:threadingInfo xmlns:p15="http://schemas.microsoft.com/office/powerpoint/2012/main" timeZoneBias="-420"/>
      </p:ext>
    </p:extLst>
  </p:cm>
  <p:cm authorId="1" dt="2020-05-21T00:02:09.306" idx="16">
    <p:pos x="3680" y="1415"/>
    <p:text>Sigmoid: đầu vào là các số thực và cho kết quả nằm trong khoảng [0,1], có thể đặt ngưỡng là 0,7 để chọn tất cả các đầu ra lớn hơn hoặc bằng 0,7 là đúng còn nhỏ hơn là sai.</p:text>
    <p:extLst>
      <p:ext uri="{C676402C-5697-4E1C-873F-D02D1690AC5C}">
        <p15:threadingInfo xmlns:p15="http://schemas.microsoft.com/office/powerpoint/2012/main" timeZoneBias="-42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D4E6-03DA-4599-B23B-C24AC3FE3C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75058AB8-687B-4B6B-9DF7-9E6E9AE0F1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1DA4CDA1-13DE-4ACA-B94F-5C752935545A}"/>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5" name="Footer Placeholder 4">
            <a:extLst>
              <a:ext uri="{FF2B5EF4-FFF2-40B4-BE49-F238E27FC236}">
                <a16:creationId xmlns:a16="http://schemas.microsoft.com/office/drawing/2014/main" id="{BF2F62A0-AC77-4562-928D-D75C48120AB8}"/>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9DCD5C75-678C-4851-98F8-6AD011CB393B}"/>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2295246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D0A0E-B640-4A2D-AA8F-20F799CD301B}"/>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F984FB1D-7F36-4F24-AAC9-79E245D82D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16CE98C-654D-445C-B224-BB7C0371E11B}"/>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5" name="Footer Placeholder 4">
            <a:extLst>
              <a:ext uri="{FF2B5EF4-FFF2-40B4-BE49-F238E27FC236}">
                <a16:creationId xmlns:a16="http://schemas.microsoft.com/office/drawing/2014/main" id="{0A59B835-3575-48E3-AE13-57D5EF8BDE77}"/>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5A2A65EB-99CE-4974-8491-D6B1F04BECF3}"/>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3989044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A05E-17A1-4924-9622-3B01481C6B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1909BD86-B270-446E-9B70-9C3949E62D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73E0FD-26AA-4909-8BC2-DE09A83FBA56}"/>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5" name="Footer Placeholder 4">
            <a:extLst>
              <a:ext uri="{FF2B5EF4-FFF2-40B4-BE49-F238E27FC236}">
                <a16:creationId xmlns:a16="http://schemas.microsoft.com/office/drawing/2014/main" id="{627B4443-F2BD-4B81-823C-86CE1D46F710}"/>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EDC3BCC-D8B0-4387-8D53-8B24618C7245}"/>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298369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BEFD7-066B-4792-89F8-3D0B2B40F470}"/>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497B9E6-A5BA-4115-8108-9A8E1A42DC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A2B63102-97C6-4397-AE8F-3E59FC0EC3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FF44B7C0-AE32-4365-81CE-F90DA29F7CD5}"/>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6" name="Footer Placeholder 5">
            <a:extLst>
              <a:ext uri="{FF2B5EF4-FFF2-40B4-BE49-F238E27FC236}">
                <a16:creationId xmlns:a16="http://schemas.microsoft.com/office/drawing/2014/main" id="{E0F8150B-11B0-492E-8A2D-5138355AC856}"/>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18AD939-52E6-4153-B095-B85FE92DB586}"/>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492974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9E4AA-ADB6-4611-B062-D65B7E0CBC29}"/>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E0B2B7EC-D762-4C0B-8CE3-999CC0B061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72DCDC-4DDF-4695-AD0F-F390841D23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DE470842-4C49-4058-86EA-4CC6D1EB59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1831BD-A7B9-4ED7-91D4-FBF5B01658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7B10D04D-73D5-46CF-BA97-6E3E65E31A4A}"/>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8" name="Footer Placeholder 7">
            <a:extLst>
              <a:ext uri="{FF2B5EF4-FFF2-40B4-BE49-F238E27FC236}">
                <a16:creationId xmlns:a16="http://schemas.microsoft.com/office/drawing/2014/main" id="{DA1B7A41-0A12-46E7-AF64-EFBA2BC4209C}"/>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6BA72FCF-7F25-4316-8B43-9AC73FC55EF5}"/>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671969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08288-1FA9-4784-B936-3490C49AADF9}"/>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F9FEA52A-A047-4FB1-B79A-2F6F86859305}"/>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4" name="Footer Placeholder 3">
            <a:extLst>
              <a:ext uri="{FF2B5EF4-FFF2-40B4-BE49-F238E27FC236}">
                <a16:creationId xmlns:a16="http://schemas.microsoft.com/office/drawing/2014/main" id="{17CE20B5-69AF-4400-9B48-C3370A129B6D}"/>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24D2F8FA-C997-4601-9323-4F4D860B2304}"/>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3296224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07FD4-72BB-432F-A868-DB4D5AEAC3AE}"/>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3" name="Footer Placeholder 2">
            <a:extLst>
              <a:ext uri="{FF2B5EF4-FFF2-40B4-BE49-F238E27FC236}">
                <a16:creationId xmlns:a16="http://schemas.microsoft.com/office/drawing/2014/main" id="{1967D34B-FBDB-4006-96EB-F861D15E5435}"/>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B17D0375-FE7B-4000-9FDF-A1BB848270AA}"/>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1627299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70992-ABB1-447E-BB3C-7BD8DEECCB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3E425BAA-DA99-408A-915B-64B5C745B7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DFAB9C27-20D2-4CD2-8B57-78A54F9A5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4DA54B-D32E-4072-8B1C-3775580FE949}"/>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6" name="Footer Placeholder 5">
            <a:extLst>
              <a:ext uri="{FF2B5EF4-FFF2-40B4-BE49-F238E27FC236}">
                <a16:creationId xmlns:a16="http://schemas.microsoft.com/office/drawing/2014/main" id="{199386AD-3E77-4E8C-BD4C-D2D97BF67B94}"/>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91AF3717-9994-4877-A7DE-0C44A7FD80EC}"/>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2420448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C5ED-61FB-4944-A6BD-67897545FD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0E1DE62F-2300-49B1-8F04-F17F28FDB8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A35E58DB-67D2-4ED5-BD6E-6CC407A0C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4B7B7C-0C74-41FB-8C2F-E958C279CD6A}"/>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6" name="Footer Placeholder 5">
            <a:extLst>
              <a:ext uri="{FF2B5EF4-FFF2-40B4-BE49-F238E27FC236}">
                <a16:creationId xmlns:a16="http://schemas.microsoft.com/office/drawing/2014/main" id="{543885E9-6AE5-4363-A2A1-2BAF95866299}"/>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B86EF6BA-2B9A-4D4E-A97A-3A3B8E0A02F6}"/>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3576257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5BFCF-95C5-4FA3-AB8F-AEAB655FEE96}"/>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5824D372-A031-4A9D-A41B-13D407C267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AD7CA57-30A3-4103-8D26-1467F479954D}"/>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5" name="Footer Placeholder 4">
            <a:extLst>
              <a:ext uri="{FF2B5EF4-FFF2-40B4-BE49-F238E27FC236}">
                <a16:creationId xmlns:a16="http://schemas.microsoft.com/office/drawing/2014/main" id="{C66F10B7-DEA1-4345-ADBF-5C3B036C9576}"/>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DD4DED9-07FF-4D4C-966C-CA016DFCBB0E}"/>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661801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9F8395-2D31-48E2-AF43-36C2B8533C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FAE5D063-3A5F-4C5D-81BE-77FB3D7B55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245D727-3405-4FB1-8763-7836DB2C83C5}"/>
              </a:ext>
            </a:extLst>
          </p:cNvPr>
          <p:cNvSpPr>
            <a:spLocks noGrp="1"/>
          </p:cNvSpPr>
          <p:nvPr>
            <p:ph type="dt" sz="half" idx="10"/>
          </p:nvPr>
        </p:nvSpPr>
        <p:spPr/>
        <p:txBody>
          <a:bodyPr/>
          <a:lstStyle/>
          <a:p>
            <a:fld id="{C5E28D64-E364-4E62-9838-15CDE7FAD5B3}" type="datetimeFigureOut">
              <a:rPr lang="vi-VN" smtClean="0"/>
              <a:t>20/06/2020</a:t>
            </a:fld>
            <a:endParaRPr lang="vi-VN"/>
          </a:p>
        </p:txBody>
      </p:sp>
      <p:sp>
        <p:nvSpPr>
          <p:cNvPr id="5" name="Footer Placeholder 4">
            <a:extLst>
              <a:ext uri="{FF2B5EF4-FFF2-40B4-BE49-F238E27FC236}">
                <a16:creationId xmlns:a16="http://schemas.microsoft.com/office/drawing/2014/main" id="{EECF7F22-9648-4CE4-A5D4-958D7FDB93F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27DCB40-CEE0-4723-B39F-BA31B14AE26B}"/>
              </a:ext>
            </a:extLst>
          </p:cNvPr>
          <p:cNvSpPr>
            <a:spLocks noGrp="1"/>
          </p:cNvSpPr>
          <p:nvPr>
            <p:ph type="sldNum" sz="quarter" idx="12"/>
          </p:nvPr>
        </p:nvSpPr>
        <p:spPr/>
        <p:txBody>
          <a:bodyPr/>
          <a:lstStyle/>
          <a:p>
            <a:fld id="{ADF327C4-4BFC-4729-BB88-49FDD263AE13}" type="slidenum">
              <a:rPr lang="vi-VN" smtClean="0"/>
              <a:t>‹#›</a:t>
            </a:fld>
            <a:endParaRPr lang="vi-VN"/>
          </a:p>
        </p:txBody>
      </p:sp>
    </p:spTree>
    <p:extLst>
      <p:ext uri="{BB962C8B-B14F-4D97-AF65-F5344CB8AC3E}">
        <p14:creationId xmlns:p14="http://schemas.microsoft.com/office/powerpoint/2010/main" val="276354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BDDC99-95E4-4692-89F8-C3EA021167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07EF44C4-3C43-4D1A-9C4C-1DBDA87A3B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09385E6-FC25-45C7-AF3A-2C7C308071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E28D64-E364-4E62-9838-15CDE7FAD5B3}" type="datetimeFigureOut">
              <a:rPr lang="vi-VN" smtClean="0"/>
              <a:t>20/06/2020</a:t>
            </a:fld>
            <a:endParaRPr lang="vi-VN"/>
          </a:p>
        </p:txBody>
      </p:sp>
      <p:sp>
        <p:nvSpPr>
          <p:cNvPr id="5" name="Footer Placeholder 4">
            <a:extLst>
              <a:ext uri="{FF2B5EF4-FFF2-40B4-BE49-F238E27FC236}">
                <a16:creationId xmlns:a16="http://schemas.microsoft.com/office/drawing/2014/main" id="{BDC304CA-17C2-4FA8-AAA0-F58F34CFF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5C4B5DFE-6480-43FE-B4C5-4141F082D1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F327C4-4BFC-4729-BB88-49FDD263AE13}" type="slidenum">
              <a:rPr lang="vi-VN" smtClean="0"/>
              <a:t>‹#›</a:t>
            </a:fld>
            <a:endParaRPr lang="vi-VN"/>
          </a:p>
        </p:txBody>
      </p:sp>
    </p:spTree>
    <p:extLst>
      <p:ext uri="{BB962C8B-B14F-4D97-AF65-F5344CB8AC3E}">
        <p14:creationId xmlns:p14="http://schemas.microsoft.com/office/powerpoint/2010/main" val="3116754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B6ADB-656D-451F-8F0A-3962941FA687}"/>
              </a:ext>
            </a:extLst>
          </p:cNvPr>
          <p:cNvSpPr>
            <a:spLocks noGrp="1"/>
          </p:cNvSpPr>
          <p:nvPr>
            <p:ph type="ctrTitle"/>
          </p:nvPr>
        </p:nvSpPr>
        <p:spPr>
          <a:xfrm>
            <a:off x="838199" y="291090"/>
            <a:ext cx="10515599" cy="932688"/>
          </a:xfrm>
        </p:spPr>
        <p:txBody>
          <a:bodyPr>
            <a:normAutofit/>
          </a:bodyPr>
          <a:lstStyle/>
          <a:p>
            <a:r>
              <a:rPr lang="vi-VN" sz="4800" dirty="0"/>
              <a:t>Kiến trúc CNN</a:t>
            </a:r>
          </a:p>
        </p:txBody>
      </p:sp>
      <p:pic>
        <p:nvPicPr>
          <p:cNvPr id="5" name="Picture 4">
            <a:extLst>
              <a:ext uri="{FF2B5EF4-FFF2-40B4-BE49-F238E27FC236}">
                <a16:creationId xmlns:a16="http://schemas.microsoft.com/office/drawing/2014/main" id="{C5F7A970-1540-4E24-B026-DE24CF5BF376}"/>
              </a:ext>
            </a:extLst>
          </p:cNvPr>
          <p:cNvPicPr>
            <a:picLocks noChangeAspect="1"/>
          </p:cNvPicPr>
          <p:nvPr/>
        </p:nvPicPr>
        <p:blipFill>
          <a:blip r:embed="rId2"/>
          <a:stretch>
            <a:fillRect/>
          </a:stretch>
        </p:blipFill>
        <p:spPr>
          <a:xfrm>
            <a:off x="1052677" y="1775012"/>
            <a:ext cx="10086646" cy="4180573"/>
          </a:xfrm>
          <a:prstGeom prst="rect">
            <a:avLst/>
          </a:prstGeom>
        </p:spPr>
      </p:pic>
    </p:spTree>
    <p:extLst>
      <p:ext uri="{BB962C8B-B14F-4D97-AF65-F5344CB8AC3E}">
        <p14:creationId xmlns:p14="http://schemas.microsoft.com/office/powerpoint/2010/main" val="584348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1EB18-1506-4F6D-B93D-73CE949E6DBC}"/>
              </a:ext>
            </a:extLst>
          </p:cNvPr>
          <p:cNvSpPr>
            <a:spLocks noGrp="1"/>
          </p:cNvSpPr>
          <p:nvPr>
            <p:ph type="title"/>
          </p:nvPr>
        </p:nvSpPr>
        <p:spPr/>
        <p:txBody>
          <a:bodyPr>
            <a:normAutofit/>
          </a:bodyPr>
          <a:lstStyle/>
          <a:p>
            <a:r>
              <a:rPr lang="vi-VN" sz="4000" dirty="0"/>
              <a:t>Convolution Layer</a:t>
            </a:r>
          </a:p>
        </p:txBody>
      </p:sp>
      <p:sp>
        <p:nvSpPr>
          <p:cNvPr id="3" name="Content Placeholder 2">
            <a:extLst>
              <a:ext uri="{FF2B5EF4-FFF2-40B4-BE49-F238E27FC236}">
                <a16:creationId xmlns:a16="http://schemas.microsoft.com/office/drawing/2014/main" id="{F2E3F99A-EC5A-4D9C-ABBE-4E6E011A96E9}"/>
              </a:ext>
            </a:extLst>
          </p:cNvPr>
          <p:cNvSpPr>
            <a:spLocks noGrp="1"/>
          </p:cNvSpPr>
          <p:nvPr>
            <p:ph idx="1"/>
          </p:nvPr>
        </p:nvSpPr>
        <p:spPr/>
        <p:txBody>
          <a:bodyPr/>
          <a:lstStyle/>
          <a:p>
            <a:r>
              <a:rPr lang="vi-VN" dirty="0"/>
              <a:t>Nhiệm vụ</a:t>
            </a:r>
          </a:p>
          <a:p>
            <a:r>
              <a:rPr lang="vi-VN" dirty="0"/>
              <a:t>Bốn đối tượng chính</a:t>
            </a:r>
          </a:p>
          <a:p>
            <a:r>
              <a:rPr lang="vi-VN" dirty="0"/>
              <a:t>Các tham số của tầng này</a:t>
            </a:r>
          </a:p>
          <a:p>
            <a:r>
              <a:rPr lang="vi-VN" dirty="0"/>
              <a:t>Hoạt động</a:t>
            </a:r>
          </a:p>
        </p:txBody>
      </p:sp>
    </p:spTree>
    <p:extLst>
      <p:ext uri="{BB962C8B-B14F-4D97-AF65-F5344CB8AC3E}">
        <p14:creationId xmlns:p14="http://schemas.microsoft.com/office/powerpoint/2010/main" val="2902445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B369B-7085-47F0-8BA5-1CA7CD7D9CD9}"/>
              </a:ext>
            </a:extLst>
          </p:cNvPr>
          <p:cNvSpPr>
            <a:spLocks noGrp="1"/>
          </p:cNvSpPr>
          <p:nvPr>
            <p:ph type="title"/>
          </p:nvPr>
        </p:nvSpPr>
        <p:spPr/>
        <p:txBody>
          <a:bodyPr/>
          <a:lstStyle/>
          <a:p>
            <a:r>
              <a:rPr lang="vi-VN" sz="4000" dirty="0"/>
              <a:t>Nonlinear Layer</a:t>
            </a:r>
            <a:br>
              <a:rPr lang="vi-VN" b="1" dirty="0"/>
            </a:br>
            <a:endParaRPr lang="vi-VN" dirty="0"/>
          </a:p>
        </p:txBody>
      </p:sp>
      <p:sp>
        <p:nvSpPr>
          <p:cNvPr id="3" name="Content Placeholder 2">
            <a:extLst>
              <a:ext uri="{FF2B5EF4-FFF2-40B4-BE49-F238E27FC236}">
                <a16:creationId xmlns:a16="http://schemas.microsoft.com/office/drawing/2014/main" id="{095E20E8-6577-4DE1-BAD2-F49ED4727289}"/>
              </a:ext>
            </a:extLst>
          </p:cNvPr>
          <p:cNvSpPr>
            <a:spLocks noGrp="1"/>
          </p:cNvSpPr>
          <p:nvPr>
            <p:ph idx="1"/>
          </p:nvPr>
        </p:nvSpPr>
        <p:spPr/>
        <p:txBody>
          <a:bodyPr>
            <a:normAutofit lnSpcReduction="10000"/>
          </a:bodyPr>
          <a:lstStyle/>
          <a:p>
            <a:r>
              <a:rPr lang="vi-VN" dirty="0"/>
              <a:t>Nhiệm vụ</a:t>
            </a:r>
          </a:p>
          <a:p>
            <a:r>
              <a:rPr lang="vi-VN" dirty="0"/>
              <a:t>Sử dụng hàm phi tuyến thông dụng như Sigmoid hoặc ReLU đặt ngay sau tầng convolution.</a:t>
            </a:r>
          </a:p>
          <a:p>
            <a:r>
              <a:rPr lang="vi-VN" dirty="0"/>
              <a:t>Công thức của hàm Sigmoid: f(x)=1/(1+e^(-x)).</a:t>
            </a:r>
          </a:p>
          <a:p>
            <a:r>
              <a:rPr lang="vi-VN" dirty="0"/>
              <a:t>Công thức của hàm ReLU: f(x)=max(0,x).</a:t>
            </a:r>
          </a:p>
          <a:p>
            <a:r>
              <a:rPr lang="vi-VN" dirty="0"/>
              <a:t>Hoạt động</a:t>
            </a:r>
          </a:p>
          <a:p>
            <a:pPr marL="0" indent="0">
              <a:buNone/>
            </a:pPr>
            <a:endParaRPr lang="vi-VN" dirty="0"/>
          </a:p>
          <a:p>
            <a:pPr marL="0" indent="0">
              <a:buNone/>
            </a:pPr>
            <a:endParaRPr lang="vi-VN" dirty="0"/>
          </a:p>
          <a:p>
            <a:pPr marL="0" indent="0">
              <a:buNone/>
            </a:pPr>
            <a:r>
              <a:rPr lang="vi-VN" dirty="0"/>
              <a:t>      Đầu vào               Sau khi sử dụng hàm ReLU</a:t>
            </a:r>
          </a:p>
        </p:txBody>
      </p:sp>
      <p:graphicFrame>
        <p:nvGraphicFramePr>
          <p:cNvPr id="4" name="Table 8">
            <a:extLst>
              <a:ext uri="{FF2B5EF4-FFF2-40B4-BE49-F238E27FC236}">
                <a16:creationId xmlns:a16="http://schemas.microsoft.com/office/drawing/2014/main" id="{21268E7F-2BD6-4CEE-96FA-7306C5747EAA}"/>
              </a:ext>
            </a:extLst>
          </p:cNvPr>
          <p:cNvGraphicFramePr>
            <a:graphicFrameLocks noGrp="1"/>
          </p:cNvGraphicFramePr>
          <p:nvPr>
            <p:extLst>
              <p:ext uri="{D42A27DB-BD31-4B8C-83A1-F6EECF244321}">
                <p14:modId xmlns:p14="http://schemas.microsoft.com/office/powerpoint/2010/main" val="2198032692"/>
              </p:ext>
            </p:extLst>
          </p:nvPr>
        </p:nvGraphicFramePr>
        <p:xfrm>
          <a:off x="1737360" y="4551680"/>
          <a:ext cx="853440" cy="741680"/>
        </p:xfrm>
        <a:graphic>
          <a:graphicData uri="http://schemas.openxmlformats.org/drawingml/2006/table">
            <a:tbl>
              <a:tblPr firstRow="1" bandRow="1">
                <a:tableStyleId>{5940675A-B579-460E-94D1-54222C63F5DA}</a:tableStyleId>
              </a:tblPr>
              <a:tblGrid>
                <a:gridCol w="426720">
                  <a:extLst>
                    <a:ext uri="{9D8B030D-6E8A-4147-A177-3AD203B41FA5}">
                      <a16:colId xmlns:a16="http://schemas.microsoft.com/office/drawing/2014/main" val="2029397421"/>
                    </a:ext>
                  </a:extLst>
                </a:gridCol>
                <a:gridCol w="426720">
                  <a:extLst>
                    <a:ext uri="{9D8B030D-6E8A-4147-A177-3AD203B41FA5}">
                      <a16:colId xmlns:a16="http://schemas.microsoft.com/office/drawing/2014/main" val="1365916042"/>
                    </a:ext>
                  </a:extLst>
                </a:gridCol>
              </a:tblGrid>
              <a:tr h="370840">
                <a:tc>
                  <a:txBody>
                    <a:bodyPr/>
                    <a:lstStyle/>
                    <a:p>
                      <a:r>
                        <a:rPr lang="vi-VN" dirty="0"/>
                        <a:t>-1</a:t>
                      </a:r>
                    </a:p>
                  </a:txBody>
                  <a:tcPr/>
                </a:tc>
                <a:tc>
                  <a:txBody>
                    <a:bodyPr/>
                    <a:lstStyle/>
                    <a:p>
                      <a:r>
                        <a:rPr lang="vi-VN" dirty="0"/>
                        <a:t>4</a:t>
                      </a:r>
                    </a:p>
                  </a:txBody>
                  <a:tcPr/>
                </a:tc>
                <a:extLst>
                  <a:ext uri="{0D108BD9-81ED-4DB2-BD59-A6C34878D82A}">
                    <a16:rowId xmlns:a16="http://schemas.microsoft.com/office/drawing/2014/main" val="1487167602"/>
                  </a:ext>
                </a:extLst>
              </a:tr>
              <a:tr h="370840">
                <a:tc>
                  <a:txBody>
                    <a:bodyPr/>
                    <a:lstStyle/>
                    <a:p>
                      <a:r>
                        <a:rPr lang="vi-VN" dirty="0"/>
                        <a:t>3</a:t>
                      </a:r>
                    </a:p>
                  </a:txBody>
                  <a:tcPr/>
                </a:tc>
                <a:tc>
                  <a:txBody>
                    <a:bodyPr/>
                    <a:lstStyle/>
                    <a:p>
                      <a:r>
                        <a:rPr lang="vi-VN" dirty="0"/>
                        <a:t>-2</a:t>
                      </a:r>
                    </a:p>
                  </a:txBody>
                  <a:tcPr/>
                </a:tc>
                <a:extLst>
                  <a:ext uri="{0D108BD9-81ED-4DB2-BD59-A6C34878D82A}">
                    <a16:rowId xmlns:a16="http://schemas.microsoft.com/office/drawing/2014/main" val="3621790579"/>
                  </a:ext>
                </a:extLst>
              </a:tr>
            </a:tbl>
          </a:graphicData>
        </a:graphic>
      </p:graphicFrame>
      <p:graphicFrame>
        <p:nvGraphicFramePr>
          <p:cNvPr id="7" name="Table 8">
            <a:extLst>
              <a:ext uri="{FF2B5EF4-FFF2-40B4-BE49-F238E27FC236}">
                <a16:creationId xmlns:a16="http://schemas.microsoft.com/office/drawing/2014/main" id="{E2A6CC4C-A341-49DF-B3A5-30A52F709A07}"/>
              </a:ext>
            </a:extLst>
          </p:cNvPr>
          <p:cNvGraphicFramePr>
            <a:graphicFrameLocks noGrp="1"/>
          </p:cNvGraphicFramePr>
          <p:nvPr>
            <p:extLst>
              <p:ext uri="{D42A27DB-BD31-4B8C-83A1-F6EECF244321}">
                <p14:modId xmlns:p14="http://schemas.microsoft.com/office/powerpoint/2010/main" val="1050191883"/>
              </p:ext>
            </p:extLst>
          </p:nvPr>
        </p:nvGraphicFramePr>
        <p:xfrm>
          <a:off x="6096000" y="4551680"/>
          <a:ext cx="853440" cy="741680"/>
        </p:xfrm>
        <a:graphic>
          <a:graphicData uri="http://schemas.openxmlformats.org/drawingml/2006/table">
            <a:tbl>
              <a:tblPr firstRow="1" bandRow="1">
                <a:tableStyleId>{5940675A-B579-460E-94D1-54222C63F5DA}</a:tableStyleId>
              </a:tblPr>
              <a:tblGrid>
                <a:gridCol w="426720">
                  <a:extLst>
                    <a:ext uri="{9D8B030D-6E8A-4147-A177-3AD203B41FA5}">
                      <a16:colId xmlns:a16="http://schemas.microsoft.com/office/drawing/2014/main" val="2029397421"/>
                    </a:ext>
                  </a:extLst>
                </a:gridCol>
                <a:gridCol w="426720">
                  <a:extLst>
                    <a:ext uri="{9D8B030D-6E8A-4147-A177-3AD203B41FA5}">
                      <a16:colId xmlns:a16="http://schemas.microsoft.com/office/drawing/2014/main" val="1365916042"/>
                    </a:ext>
                  </a:extLst>
                </a:gridCol>
              </a:tblGrid>
              <a:tr h="370840">
                <a:tc>
                  <a:txBody>
                    <a:bodyPr/>
                    <a:lstStyle/>
                    <a:p>
                      <a:r>
                        <a:rPr lang="vi-VN" dirty="0"/>
                        <a:t>0</a:t>
                      </a:r>
                    </a:p>
                  </a:txBody>
                  <a:tcPr/>
                </a:tc>
                <a:tc>
                  <a:txBody>
                    <a:bodyPr/>
                    <a:lstStyle/>
                    <a:p>
                      <a:r>
                        <a:rPr lang="vi-VN" dirty="0"/>
                        <a:t>4</a:t>
                      </a:r>
                    </a:p>
                  </a:txBody>
                  <a:tcPr/>
                </a:tc>
                <a:extLst>
                  <a:ext uri="{0D108BD9-81ED-4DB2-BD59-A6C34878D82A}">
                    <a16:rowId xmlns:a16="http://schemas.microsoft.com/office/drawing/2014/main" val="1487167602"/>
                  </a:ext>
                </a:extLst>
              </a:tr>
              <a:tr h="370840">
                <a:tc>
                  <a:txBody>
                    <a:bodyPr/>
                    <a:lstStyle/>
                    <a:p>
                      <a:r>
                        <a:rPr lang="vi-VN" dirty="0"/>
                        <a:t>3</a:t>
                      </a:r>
                    </a:p>
                  </a:txBody>
                  <a:tcPr/>
                </a:tc>
                <a:tc>
                  <a:txBody>
                    <a:bodyPr/>
                    <a:lstStyle/>
                    <a:p>
                      <a:r>
                        <a:rPr lang="vi-VN" dirty="0"/>
                        <a:t>0</a:t>
                      </a:r>
                    </a:p>
                  </a:txBody>
                  <a:tcPr/>
                </a:tc>
                <a:extLst>
                  <a:ext uri="{0D108BD9-81ED-4DB2-BD59-A6C34878D82A}">
                    <a16:rowId xmlns:a16="http://schemas.microsoft.com/office/drawing/2014/main" val="3621790579"/>
                  </a:ext>
                </a:extLst>
              </a:tr>
            </a:tbl>
          </a:graphicData>
        </a:graphic>
      </p:graphicFrame>
    </p:spTree>
    <p:extLst>
      <p:ext uri="{BB962C8B-B14F-4D97-AF65-F5344CB8AC3E}">
        <p14:creationId xmlns:p14="http://schemas.microsoft.com/office/powerpoint/2010/main" val="1765596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6EF60-7C24-4963-BEBA-E5F2DE40E449}"/>
              </a:ext>
            </a:extLst>
          </p:cNvPr>
          <p:cNvSpPr>
            <a:spLocks noGrp="1"/>
          </p:cNvSpPr>
          <p:nvPr>
            <p:ph type="title"/>
          </p:nvPr>
        </p:nvSpPr>
        <p:spPr/>
        <p:txBody>
          <a:bodyPr/>
          <a:lstStyle/>
          <a:p>
            <a:r>
              <a:rPr lang="vi-VN" sz="4000" dirty="0"/>
              <a:t>Pooling Layer</a:t>
            </a:r>
          </a:p>
        </p:txBody>
      </p:sp>
      <p:sp>
        <p:nvSpPr>
          <p:cNvPr id="3" name="Content Placeholder 2">
            <a:extLst>
              <a:ext uri="{FF2B5EF4-FFF2-40B4-BE49-F238E27FC236}">
                <a16:creationId xmlns:a16="http://schemas.microsoft.com/office/drawing/2014/main" id="{8B828C76-6625-484A-A0BA-4208D203EEAE}"/>
              </a:ext>
            </a:extLst>
          </p:cNvPr>
          <p:cNvSpPr>
            <a:spLocks noGrp="1"/>
          </p:cNvSpPr>
          <p:nvPr>
            <p:ph idx="1"/>
          </p:nvPr>
        </p:nvSpPr>
        <p:spPr/>
        <p:txBody>
          <a:bodyPr/>
          <a:lstStyle/>
          <a:p>
            <a:r>
              <a:rPr lang="vi-VN" dirty="0"/>
              <a:t>Nhiệm vụ</a:t>
            </a:r>
          </a:p>
          <a:p>
            <a:r>
              <a:rPr lang="vi-VN" dirty="0"/>
              <a:t>Một số loại pooling layer phổ biến như là max-pooling, average- pooling và sum-pooling</a:t>
            </a:r>
          </a:p>
          <a:p>
            <a:r>
              <a:rPr lang="vi-VN" dirty="0"/>
              <a:t>Hoạt động</a:t>
            </a:r>
          </a:p>
          <a:p>
            <a:endParaRPr lang="vi-VN" dirty="0"/>
          </a:p>
          <a:p>
            <a:endParaRPr lang="vi-VN" dirty="0"/>
          </a:p>
          <a:p>
            <a:endParaRPr lang="vi-VN" dirty="0"/>
          </a:p>
          <a:p>
            <a:pPr marL="0" indent="0">
              <a:buNone/>
            </a:pPr>
            <a:r>
              <a:rPr lang="vi-VN" dirty="0"/>
              <a:t>         Đầu vào             </a:t>
            </a:r>
            <a:r>
              <a:rPr lang="en-US" dirty="0"/>
              <a:t>max-pooling </a:t>
            </a:r>
            <a:r>
              <a:rPr lang="en-US" dirty="0" err="1"/>
              <a:t>với</a:t>
            </a:r>
            <a:r>
              <a:rPr lang="en-US" dirty="0"/>
              <a:t> size=(2,2), stride=2, padding=0</a:t>
            </a:r>
            <a:endParaRPr lang="vi-VN" dirty="0"/>
          </a:p>
        </p:txBody>
      </p:sp>
      <p:graphicFrame>
        <p:nvGraphicFramePr>
          <p:cNvPr id="4" name="Table 6">
            <a:extLst>
              <a:ext uri="{FF2B5EF4-FFF2-40B4-BE49-F238E27FC236}">
                <a16:creationId xmlns:a16="http://schemas.microsoft.com/office/drawing/2014/main" id="{203EE31B-8301-445D-8D81-749978D7A391}"/>
              </a:ext>
            </a:extLst>
          </p:cNvPr>
          <p:cNvGraphicFramePr>
            <a:graphicFrameLocks noGrp="1"/>
          </p:cNvGraphicFramePr>
          <p:nvPr>
            <p:extLst>
              <p:ext uri="{D42A27DB-BD31-4B8C-83A1-F6EECF244321}">
                <p14:modId xmlns:p14="http://schemas.microsoft.com/office/powerpoint/2010/main" val="2471323072"/>
              </p:ext>
            </p:extLst>
          </p:nvPr>
        </p:nvGraphicFramePr>
        <p:xfrm>
          <a:off x="1669000" y="3688080"/>
          <a:ext cx="1553592" cy="1463040"/>
        </p:xfrm>
        <a:graphic>
          <a:graphicData uri="http://schemas.openxmlformats.org/drawingml/2006/table">
            <a:tbl>
              <a:tblPr firstRow="1" bandRow="1">
                <a:tableStyleId>{5940675A-B579-460E-94D1-54222C63F5DA}</a:tableStyleId>
              </a:tblPr>
              <a:tblGrid>
                <a:gridCol w="388398">
                  <a:extLst>
                    <a:ext uri="{9D8B030D-6E8A-4147-A177-3AD203B41FA5}">
                      <a16:colId xmlns:a16="http://schemas.microsoft.com/office/drawing/2014/main" val="83101200"/>
                    </a:ext>
                  </a:extLst>
                </a:gridCol>
                <a:gridCol w="388398">
                  <a:extLst>
                    <a:ext uri="{9D8B030D-6E8A-4147-A177-3AD203B41FA5}">
                      <a16:colId xmlns:a16="http://schemas.microsoft.com/office/drawing/2014/main" val="3760756823"/>
                    </a:ext>
                  </a:extLst>
                </a:gridCol>
                <a:gridCol w="388398">
                  <a:extLst>
                    <a:ext uri="{9D8B030D-6E8A-4147-A177-3AD203B41FA5}">
                      <a16:colId xmlns:a16="http://schemas.microsoft.com/office/drawing/2014/main" val="1893232859"/>
                    </a:ext>
                  </a:extLst>
                </a:gridCol>
                <a:gridCol w="388398">
                  <a:extLst>
                    <a:ext uri="{9D8B030D-6E8A-4147-A177-3AD203B41FA5}">
                      <a16:colId xmlns:a16="http://schemas.microsoft.com/office/drawing/2014/main" val="1097881690"/>
                    </a:ext>
                  </a:extLst>
                </a:gridCol>
              </a:tblGrid>
              <a:tr h="353060">
                <a:tc>
                  <a:txBody>
                    <a:bodyPr/>
                    <a:lstStyle/>
                    <a:p>
                      <a:r>
                        <a:rPr lang="vi-VN" dirty="0"/>
                        <a:t>1</a:t>
                      </a:r>
                    </a:p>
                  </a:txBody>
                  <a:tcPr>
                    <a:solidFill>
                      <a:schemeClr val="accent2"/>
                    </a:solidFill>
                  </a:tcPr>
                </a:tc>
                <a:tc>
                  <a:txBody>
                    <a:bodyPr/>
                    <a:lstStyle/>
                    <a:p>
                      <a:r>
                        <a:rPr lang="vi-VN" dirty="0"/>
                        <a:t>3</a:t>
                      </a:r>
                    </a:p>
                  </a:txBody>
                  <a:tcPr>
                    <a:solidFill>
                      <a:schemeClr val="accent2"/>
                    </a:solidFill>
                  </a:tcPr>
                </a:tc>
                <a:tc>
                  <a:txBody>
                    <a:bodyPr/>
                    <a:lstStyle/>
                    <a:p>
                      <a:r>
                        <a:rPr lang="vi-VN" dirty="0"/>
                        <a:t>4</a:t>
                      </a:r>
                    </a:p>
                  </a:txBody>
                  <a:tcPr>
                    <a:solidFill>
                      <a:schemeClr val="accent5">
                        <a:lumMod val="40000"/>
                        <a:lumOff val="60000"/>
                      </a:schemeClr>
                    </a:solidFill>
                  </a:tcPr>
                </a:tc>
                <a:tc>
                  <a:txBody>
                    <a:bodyPr/>
                    <a:lstStyle/>
                    <a:p>
                      <a:r>
                        <a:rPr lang="vi-VN" dirty="0"/>
                        <a:t>5</a:t>
                      </a:r>
                    </a:p>
                  </a:txBody>
                  <a:tcPr>
                    <a:solidFill>
                      <a:schemeClr val="accent5">
                        <a:lumMod val="40000"/>
                        <a:lumOff val="60000"/>
                      </a:schemeClr>
                    </a:solidFill>
                  </a:tcPr>
                </a:tc>
                <a:extLst>
                  <a:ext uri="{0D108BD9-81ED-4DB2-BD59-A6C34878D82A}">
                    <a16:rowId xmlns:a16="http://schemas.microsoft.com/office/drawing/2014/main" val="3128550353"/>
                  </a:ext>
                </a:extLst>
              </a:tr>
              <a:tr h="353060">
                <a:tc>
                  <a:txBody>
                    <a:bodyPr/>
                    <a:lstStyle/>
                    <a:p>
                      <a:r>
                        <a:rPr lang="vi-VN" dirty="0"/>
                        <a:t>1</a:t>
                      </a:r>
                    </a:p>
                  </a:txBody>
                  <a:tcPr>
                    <a:solidFill>
                      <a:schemeClr val="accent2"/>
                    </a:solidFill>
                  </a:tcPr>
                </a:tc>
                <a:tc>
                  <a:txBody>
                    <a:bodyPr/>
                    <a:lstStyle/>
                    <a:p>
                      <a:r>
                        <a:rPr lang="vi-VN" dirty="0"/>
                        <a:t>4</a:t>
                      </a:r>
                    </a:p>
                  </a:txBody>
                  <a:tcPr>
                    <a:solidFill>
                      <a:schemeClr val="accent2"/>
                    </a:solidFill>
                  </a:tcPr>
                </a:tc>
                <a:tc>
                  <a:txBody>
                    <a:bodyPr/>
                    <a:lstStyle/>
                    <a:p>
                      <a:r>
                        <a:rPr lang="vi-VN" dirty="0"/>
                        <a:t>7</a:t>
                      </a:r>
                    </a:p>
                  </a:txBody>
                  <a:tcPr>
                    <a:solidFill>
                      <a:schemeClr val="accent5">
                        <a:lumMod val="40000"/>
                        <a:lumOff val="60000"/>
                      </a:schemeClr>
                    </a:solidFill>
                  </a:tcPr>
                </a:tc>
                <a:tc>
                  <a:txBody>
                    <a:bodyPr/>
                    <a:lstStyle/>
                    <a:p>
                      <a:r>
                        <a:rPr lang="vi-VN" dirty="0"/>
                        <a:t>6</a:t>
                      </a:r>
                    </a:p>
                  </a:txBody>
                  <a:tcPr>
                    <a:solidFill>
                      <a:schemeClr val="accent5">
                        <a:lumMod val="40000"/>
                        <a:lumOff val="60000"/>
                      </a:schemeClr>
                    </a:solidFill>
                  </a:tcPr>
                </a:tc>
                <a:extLst>
                  <a:ext uri="{0D108BD9-81ED-4DB2-BD59-A6C34878D82A}">
                    <a16:rowId xmlns:a16="http://schemas.microsoft.com/office/drawing/2014/main" val="719327349"/>
                  </a:ext>
                </a:extLst>
              </a:tr>
              <a:tr h="353060">
                <a:tc>
                  <a:txBody>
                    <a:bodyPr/>
                    <a:lstStyle/>
                    <a:p>
                      <a:r>
                        <a:rPr lang="vi-VN" dirty="0"/>
                        <a:t>9</a:t>
                      </a:r>
                    </a:p>
                  </a:txBody>
                  <a:tcPr>
                    <a:solidFill>
                      <a:srgbClr val="92D050"/>
                    </a:solidFill>
                  </a:tcPr>
                </a:tc>
                <a:tc>
                  <a:txBody>
                    <a:bodyPr/>
                    <a:lstStyle/>
                    <a:p>
                      <a:r>
                        <a:rPr lang="vi-VN" dirty="0"/>
                        <a:t>8</a:t>
                      </a:r>
                    </a:p>
                  </a:txBody>
                  <a:tcPr>
                    <a:solidFill>
                      <a:srgbClr val="92D050"/>
                    </a:solidFill>
                  </a:tcPr>
                </a:tc>
                <a:tc>
                  <a:txBody>
                    <a:bodyPr/>
                    <a:lstStyle/>
                    <a:p>
                      <a:r>
                        <a:rPr lang="vi-VN" dirty="0"/>
                        <a:t>1 </a:t>
                      </a:r>
                    </a:p>
                  </a:txBody>
                  <a:tcPr/>
                </a:tc>
                <a:tc>
                  <a:txBody>
                    <a:bodyPr/>
                    <a:lstStyle/>
                    <a:p>
                      <a:r>
                        <a:rPr lang="vi-VN" dirty="0"/>
                        <a:t> 2</a:t>
                      </a:r>
                    </a:p>
                  </a:txBody>
                  <a:tcPr/>
                </a:tc>
                <a:extLst>
                  <a:ext uri="{0D108BD9-81ED-4DB2-BD59-A6C34878D82A}">
                    <a16:rowId xmlns:a16="http://schemas.microsoft.com/office/drawing/2014/main" val="3274732537"/>
                  </a:ext>
                </a:extLst>
              </a:tr>
              <a:tr h="353060">
                <a:tc>
                  <a:txBody>
                    <a:bodyPr/>
                    <a:lstStyle/>
                    <a:p>
                      <a:r>
                        <a:rPr lang="vi-VN" dirty="0"/>
                        <a:t>1 </a:t>
                      </a:r>
                    </a:p>
                  </a:txBody>
                  <a:tcPr>
                    <a:solidFill>
                      <a:srgbClr val="92D050"/>
                    </a:solidFill>
                  </a:tcPr>
                </a:tc>
                <a:tc>
                  <a:txBody>
                    <a:bodyPr/>
                    <a:lstStyle/>
                    <a:p>
                      <a:r>
                        <a:rPr lang="vi-VN" dirty="0"/>
                        <a:t>2</a:t>
                      </a:r>
                    </a:p>
                  </a:txBody>
                  <a:tcPr>
                    <a:solidFill>
                      <a:srgbClr val="92D050"/>
                    </a:solidFill>
                  </a:tcPr>
                </a:tc>
                <a:tc>
                  <a:txBody>
                    <a:bodyPr/>
                    <a:lstStyle/>
                    <a:p>
                      <a:r>
                        <a:rPr lang="vi-VN" dirty="0"/>
                        <a:t>3 </a:t>
                      </a:r>
                    </a:p>
                  </a:txBody>
                  <a:tcPr/>
                </a:tc>
                <a:tc>
                  <a:txBody>
                    <a:bodyPr/>
                    <a:lstStyle/>
                    <a:p>
                      <a:r>
                        <a:rPr lang="vi-VN" dirty="0"/>
                        <a:t>3</a:t>
                      </a:r>
                    </a:p>
                  </a:txBody>
                  <a:tcPr/>
                </a:tc>
                <a:extLst>
                  <a:ext uri="{0D108BD9-81ED-4DB2-BD59-A6C34878D82A}">
                    <a16:rowId xmlns:a16="http://schemas.microsoft.com/office/drawing/2014/main" val="3432840251"/>
                  </a:ext>
                </a:extLst>
              </a:tr>
            </a:tbl>
          </a:graphicData>
        </a:graphic>
      </p:graphicFrame>
      <p:graphicFrame>
        <p:nvGraphicFramePr>
          <p:cNvPr id="5" name="Table 8">
            <a:extLst>
              <a:ext uri="{FF2B5EF4-FFF2-40B4-BE49-F238E27FC236}">
                <a16:creationId xmlns:a16="http://schemas.microsoft.com/office/drawing/2014/main" id="{A31D9FC5-886C-43D0-B941-6B53A98A1C93}"/>
              </a:ext>
            </a:extLst>
          </p:cNvPr>
          <p:cNvGraphicFramePr>
            <a:graphicFrameLocks noGrp="1"/>
          </p:cNvGraphicFramePr>
          <p:nvPr>
            <p:extLst>
              <p:ext uri="{D42A27DB-BD31-4B8C-83A1-F6EECF244321}">
                <p14:modId xmlns:p14="http://schemas.microsoft.com/office/powerpoint/2010/main" val="413083273"/>
              </p:ext>
            </p:extLst>
          </p:nvPr>
        </p:nvGraphicFramePr>
        <p:xfrm>
          <a:off x="6725920" y="4043680"/>
          <a:ext cx="833120" cy="731520"/>
        </p:xfrm>
        <a:graphic>
          <a:graphicData uri="http://schemas.openxmlformats.org/drawingml/2006/table">
            <a:tbl>
              <a:tblPr firstRow="1" bandRow="1">
                <a:tableStyleId>{5940675A-B579-460E-94D1-54222C63F5DA}</a:tableStyleId>
              </a:tblPr>
              <a:tblGrid>
                <a:gridCol w="416560">
                  <a:extLst>
                    <a:ext uri="{9D8B030D-6E8A-4147-A177-3AD203B41FA5}">
                      <a16:colId xmlns:a16="http://schemas.microsoft.com/office/drawing/2014/main" val="2029397421"/>
                    </a:ext>
                  </a:extLst>
                </a:gridCol>
                <a:gridCol w="416560">
                  <a:extLst>
                    <a:ext uri="{9D8B030D-6E8A-4147-A177-3AD203B41FA5}">
                      <a16:colId xmlns:a16="http://schemas.microsoft.com/office/drawing/2014/main" val="1365916042"/>
                    </a:ext>
                  </a:extLst>
                </a:gridCol>
              </a:tblGrid>
              <a:tr h="360680">
                <a:tc>
                  <a:txBody>
                    <a:bodyPr/>
                    <a:lstStyle/>
                    <a:p>
                      <a:r>
                        <a:rPr lang="vi-VN" dirty="0"/>
                        <a:t>4</a:t>
                      </a:r>
                    </a:p>
                  </a:txBody>
                  <a:tcPr>
                    <a:solidFill>
                      <a:schemeClr val="accent2"/>
                    </a:solidFill>
                  </a:tcPr>
                </a:tc>
                <a:tc>
                  <a:txBody>
                    <a:bodyPr/>
                    <a:lstStyle/>
                    <a:p>
                      <a:r>
                        <a:rPr lang="vi-VN" dirty="0"/>
                        <a:t>7</a:t>
                      </a:r>
                    </a:p>
                  </a:txBody>
                  <a:tcPr>
                    <a:solidFill>
                      <a:schemeClr val="accent5">
                        <a:lumMod val="40000"/>
                        <a:lumOff val="60000"/>
                      </a:schemeClr>
                    </a:solidFill>
                  </a:tcPr>
                </a:tc>
                <a:extLst>
                  <a:ext uri="{0D108BD9-81ED-4DB2-BD59-A6C34878D82A}">
                    <a16:rowId xmlns:a16="http://schemas.microsoft.com/office/drawing/2014/main" val="1487167602"/>
                  </a:ext>
                </a:extLst>
              </a:tr>
              <a:tr h="360680">
                <a:tc>
                  <a:txBody>
                    <a:bodyPr/>
                    <a:lstStyle/>
                    <a:p>
                      <a:r>
                        <a:rPr lang="vi-VN" dirty="0"/>
                        <a:t>9</a:t>
                      </a:r>
                    </a:p>
                  </a:txBody>
                  <a:tcPr>
                    <a:solidFill>
                      <a:srgbClr val="92D050"/>
                    </a:solidFill>
                  </a:tcPr>
                </a:tc>
                <a:tc>
                  <a:txBody>
                    <a:bodyPr/>
                    <a:lstStyle/>
                    <a:p>
                      <a:r>
                        <a:rPr lang="vi-VN" dirty="0"/>
                        <a:t>3</a:t>
                      </a:r>
                    </a:p>
                  </a:txBody>
                  <a:tcPr/>
                </a:tc>
                <a:extLst>
                  <a:ext uri="{0D108BD9-81ED-4DB2-BD59-A6C34878D82A}">
                    <a16:rowId xmlns:a16="http://schemas.microsoft.com/office/drawing/2014/main" val="3621790579"/>
                  </a:ext>
                </a:extLst>
              </a:tr>
            </a:tbl>
          </a:graphicData>
        </a:graphic>
      </p:graphicFrame>
    </p:spTree>
    <p:extLst>
      <p:ext uri="{BB962C8B-B14F-4D97-AF65-F5344CB8AC3E}">
        <p14:creationId xmlns:p14="http://schemas.microsoft.com/office/powerpoint/2010/main" val="3856971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5F244-4351-4605-A5B9-8D50E2A3EA33}"/>
              </a:ext>
            </a:extLst>
          </p:cNvPr>
          <p:cNvSpPr>
            <a:spLocks noGrp="1"/>
          </p:cNvSpPr>
          <p:nvPr>
            <p:ph type="title"/>
          </p:nvPr>
        </p:nvSpPr>
        <p:spPr/>
        <p:txBody>
          <a:bodyPr/>
          <a:lstStyle/>
          <a:p>
            <a:r>
              <a:rPr lang="vi-VN" sz="4000" dirty="0"/>
              <a:t>Fully Connected Layer</a:t>
            </a:r>
          </a:p>
        </p:txBody>
      </p:sp>
      <p:sp>
        <p:nvSpPr>
          <p:cNvPr id="3" name="Content Placeholder 2">
            <a:extLst>
              <a:ext uri="{FF2B5EF4-FFF2-40B4-BE49-F238E27FC236}">
                <a16:creationId xmlns:a16="http://schemas.microsoft.com/office/drawing/2014/main" id="{7CE42A70-52F1-4A69-8708-3439750F3938}"/>
              </a:ext>
            </a:extLst>
          </p:cNvPr>
          <p:cNvSpPr>
            <a:spLocks noGrp="1"/>
          </p:cNvSpPr>
          <p:nvPr>
            <p:ph idx="1"/>
          </p:nvPr>
        </p:nvSpPr>
        <p:spPr/>
        <p:txBody>
          <a:bodyPr>
            <a:normAutofit fontScale="92500" lnSpcReduction="10000"/>
          </a:bodyPr>
          <a:lstStyle/>
          <a:p>
            <a:r>
              <a:rPr lang="vi-VN" dirty="0"/>
              <a:t>Nhiệm vụ</a:t>
            </a:r>
          </a:p>
          <a:p>
            <a:r>
              <a:rPr lang="vi-VN" dirty="0"/>
              <a:t>Sử dụng softmax hoặc sigmoid                     </a:t>
            </a:r>
            <a:r>
              <a:rPr lang="vi-VN" sz="1600" dirty="0"/>
              <a:t>p(a0=0.1)=e^0,1/(e^0.1+e^0.01+e^0+e^2)   </a:t>
            </a:r>
          </a:p>
          <a:p>
            <a:r>
              <a:rPr lang="vi-VN" dirty="0"/>
              <a:t>Hoạt động                                                          </a:t>
            </a:r>
            <a:r>
              <a:rPr lang="vi-VN" sz="2100" dirty="0"/>
              <a:t>CT softmax:</a:t>
            </a:r>
          </a:p>
          <a:p>
            <a:pPr marL="0" indent="0">
              <a:buNone/>
            </a:pPr>
            <a:r>
              <a:rPr lang="vi-VN" sz="2000" dirty="0"/>
              <a:t>                                                                                                           p(</a:t>
            </a:r>
            <a:r>
              <a:rPr lang="vi-VN" sz="2100" dirty="0"/>
              <a:t>ai)=exp(ai)/∑exp(aj),  </a:t>
            </a:r>
          </a:p>
          <a:p>
            <a:pPr marL="0" indent="0">
              <a:buNone/>
            </a:pPr>
            <a:r>
              <a:rPr lang="vi-VN" sz="2000" dirty="0"/>
              <a:t>                                                                                                           ∀j=1,2,…,C                              </a:t>
            </a:r>
          </a:p>
          <a:p>
            <a:pPr marL="0" indent="0">
              <a:buNone/>
            </a:pPr>
            <a:r>
              <a:rPr lang="vi-VN" sz="2000" dirty="0"/>
              <a:t>                                     Flattening                  softmax                                                                  </a:t>
            </a:r>
          </a:p>
          <a:p>
            <a:pPr marL="0" indent="0">
              <a:buNone/>
            </a:pPr>
            <a:r>
              <a:rPr lang="vi-VN" sz="2000" dirty="0"/>
              <a:t>                                                                                     </a:t>
            </a:r>
          </a:p>
          <a:p>
            <a:pPr marL="0" indent="0">
              <a:buNone/>
            </a:pPr>
            <a:r>
              <a:rPr lang="vi-VN" sz="2000" dirty="0"/>
              <a:t>                                                                                                 </a:t>
            </a:r>
          </a:p>
          <a:p>
            <a:pPr marL="0" indent="0">
              <a:buNone/>
            </a:pPr>
            <a:r>
              <a:rPr lang="vi-VN" sz="2000" dirty="0"/>
              <a:t>                                                                               </a:t>
            </a:r>
          </a:p>
          <a:p>
            <a:pPr marL="0" indent="0">
              <a:buNone/>
            </a:pPr>
            <a:endParaRPr lang="vi-VN" sz="2000" dirty="0"/>
          </a:p>
          <a:p>
            <a:pPr marL="0" indent="0">
              <a:buNone/>
            </a:pPr>
            <a:r>
              <a:rPr lang="vi-VN" sz="2000" dirty="0"/>
              <a:t>                                                                              </a:t>
            </a:r>
          </a:p>
          <a:p>
            <a:pPr marL="0" indent="0">
              <a:buNone/>
            </a:pPr>
            <a:endParaRPr lang="vi-VN" dirty="0"/>
          </a:p>
        </p:txBody>
      </p:sp>
      <p:graphicFrame>
        <p:nvGraphicFramePr>
          <p:cNvPr id="4" name="Table 4">
            <a:extLst>
              <a:ext uri="{FF2B5EF4-FFF2-40B4-BE49-F238E27FC236}">
                <a16:creationId xmlns:a16="http://schemas.microsoft.com/office/drawing/2014/main" id="{9BE22C62-75D2-4FB7-B6F6-8D94EE2A524E}"/>
              </a:ext>
            </a:extLst>
          </p:cNvPr>
          <p:cNvGraphicFramePr>
            <a:graphicFrameLocks noGrp="1"/>
          </p:cNvGraphicFramePr>
          <p:nvPr>
            <p:extLst>
              <p:ext uri="{D42A27DB-BD31-4B8C-83A1-F6EECF244321}">
                <p14:modId xmlns:p14="http://schemas.microsoft.com/office/powerpoint/2010/main" val="1355232341"/>
              </p:ext>
            </p:extLst>
          </p:nvPr>
        </p:nvGraphicFramePr>
        <p:xfrm>
          <a:off x="2164080" y="3891280"/>
          <a:ext cx="833120" cy="914400"/>
        </p:xfrm>
        <a:graphic>
          <a:graphicData uri="http://schemas.openxmlformats.org/drawingml/2006/table">
            <a:tbl>
              <a:tblPr firstRow="1" bandRow="1">
                <a:tableStyleId>{5940675A-B579-460E-94D1-54222C63F5DA}</a:tableStyleId>
              </a:tblPr>
              <a:tblGrid>
                <a:gridCol w="416560">
                  <a:extLst>
                    <a:ext uri="{9D8B030D-6E8A-4147-A177-3AD203B41FA5}">
                      <a16:colId xmlns:a16="http://schemas.microsoft.com/office/drawing/2014/main" val="598156079"/>
                    </a:ext>
                  </a:extLst>
                </a:gridCol>
                <a:gridCol w="416560">
                  <a:extLst>
                    <a:ext uri="{9D8B030D-6E8A-4147-A177-3AD203B41FA5}">
                      <a16:colId xmlns:a16="http://schemas.microsoft.com/office/drawing/2014/main" val="4172486636"/>
                    </a:ext>
                  </a:extLst>
                </a:gridCol>
              </a:tblGrid>
              <a:tr h="457200">
                <a:tc>
                  <a:txBody>
                    <a:bodyPr/>
                    <a:lstStyle/>
                    <a:p>
                      <a:r>
                        <a:rPr lang="vi-VN" dirty="0"/>
                        <a:t>1</a:t>
                      </a:r>
                    </a:p>
                  </a:txBody>
                  <a:tcPr/>
                </a:tc>
                <a:tc>
                  <a:txBody>
                    <a:bodyPr/>
                    <a:lstStyle/>
                    <a:p>
                      <a:r>
                        <a:rPr lang="vi-VN" dirty="0"/>
                        <a:t>0</a:t>
                      </a:r>
                    </a:p>
                  </a:txBody>
                  <a:tcPr/>
                </a:tc>
                <a:extLst>
                  <a:ext uri="{0D108BD9-81ED-4DB2-BD59-A6C34878D82A}">
                    <a16:rowId xmlns:a16="http://schemas.microsoft.com/office/drawing/2014/main" val="1922885127"/>
                  </a:ext>
                </a:extLst>
              </a:tr>
              <a:tr h="457200">
                <a:tc>
                  <a:txBody>
                    <a:bodyPr/>
                    <a:lstStyle/>
                    <a:p>
                      <a:r>
                        <a:rPr lang="vi-VN" dirty="0"/>
                        <a:t>0</a:t>
                      </a:r>
                    </a:p>
                  </a:txBody>
                  <a:tcPr/>
                </a:tc>
                <a:tc>
                  <a:txBody>
                    <a:bodyPr/>
                    <a:lstStyle/>
                    <a:p>
                      <a:r>
                        <a:rPr lang="vi-VN" dirty="0"/>
                        <a:t>2</a:t>
                      </a:r>
                    </a:p>
                  </a:txBody>
                  <a:tcPr/>
                </a:tc>
                <a:extLst>
                  <a:ext uri="{0D108BD9-81ED-4DB2-BD59-A6C34878D82A}">
                    <a16:rowId xmlns:a16="http://schemas.microsoft.com/office/drawing/2014/main" val="4275508872"/>
                  </a:ext>
                </a:extLst>
              </a:tr>
            </a:tbl>
          </a:graphicData>
        </a:graphic>
      </p:graphicFrame>
      <p:graphicFrame>
        <p:nvGraphicFramePr>
          <p:cNvPr id="9" name="Table 9">
            <a:extLst>
              <a:ext uri="{FF2B5EF4-FFF2-40B4-BE49-F238E27FC236}">
                <a16:creationId xmlns:a16="http://schemas.microsoft.com/office/drawing/2014/main" id="{290581F7-D687-4E97-A5E6-F03E5BAB43AD}"/>
              </a:ext>
            </a:extLst>
          </p:cNvPr>
          <p:cNvGraphicFramePr>
            <a:graphicFrameLocks noGrp="1"/>
          </p:cNvGraphicFramePr>
          <p:nvPr>
            <p:extLst>
              <p:ext uri="{D42A27DB-BD31-4B8C-83A1-F6EECF244321}">
                <p14:modId xmlns:p14="http://schemas.microsoft.com/office/powerpoint/2010/main" val="2095601643"/>
              </p:ext>
            </p:extLst>
          </p:nvPr>
        </p:nvGraphicFramePr>
        <p:xfrm>
          <a:off x="4805681" y="3281679"/>
          <a:ext cx="670558" cy="2001520"/>
        </p:xfrm>
        <a:graphic>
          <a:graphicData uri="http://schemas.openxmlformats.org/drawingml/2006/table">
            <a:tbl>
              <a:tblPr firstRow="1" bandRow="1">
                <a:tableStyleId>{5940675A-B579-460E-94D1-54222C63F5DA}</a:tableStyleId>
              </a:tblPr>
              <a:tblGrid>
                <a:gridCol w="670558">
                  <a:extLst>
                    <a:ext uri="{9D8B030D-6E8A-4147-A177-3AD203B41FA5}">
                      <a16:colId xmlns:a16="http://schemas.microsoft.com/office/drawing/2014/main" val="3977867297"/>
                    </a:ext>
                  </a:extLst>
                </a:gridCol>
              </a:tblGrid>
              <a:tr h="500380">
                <a:tc>
                  <a:txBody>
                    <a:bodyPr/>
                    <a:lstStyle/>
                    <a:p>
                      <a:r>
                        <a:rPr lang="vi-VN" dirty="0"/>
                        <a:t>0.1</a:t>
                      </a:r>
                    </a:p>
                  </a:txBody>
                  <a:tcPr/>
                </a:tc>
                <a:extLst>
                  <a:ext uri="{0D108BD9-81ED-4DB2-BD59-A6C34878D82A}">
                    <a16:rowId xmlns:a16="http://schemas.microsoft.com/office/drawing/2014/main" val="2553368480"/>
                  </a:ext>
                </a:extLst>
              </a:tr>
              <a:tr h="500380">
                <a:tc>
                  <a:txBody>
                    <a:bodyPr/>
                    <a:lstStyle/>
                    <a:p>
                      <a:r>
                        <a:rPr lang="vi-VN" dirty="0"/>
                        <a:t>0.01</a:t>
                      </a:r>
                    </a:p>
                  </a:txBody>
                  <a:tcPr/>
                </a:tc>
                <a:extLst>
                  <a:ext uri="{0D108BD9-81ED-4DB2-BD59-A6C34878D82A}">
                    <a16:rowId xmlns:a16="http://schemas.microsoft.com/office/drawing/2014/main" val="2584093877"/>
                  </a:ext>
                </a:extLst>
              </a:tr>
              <a:tr h="500380">
                <a:tc>
                  <a:txBody>
                    <a:bodyPr/>
                    <a:lstStyle/>
                    <a:p>
                      <a:r>
                        <a:rPr lang="vi-VN" dirty="0"/>
                        <a:t>0</a:t>
                      </a:r>
                    </a:p>
                  </a:txBody>
                  <a:tcPr/>
                </a:tc>
                <a:extLst>
                  <a:ext uri="{0D108BD9-81ED-4DB2-BD59-A6C34878D82A}">
                    <a16:rowId xmlns:a16="http://schemas.microsoft.com/office/drawing/2014/main" val="1465092729"/>
                  </a:ext>
                </a:extLst>
              </a:tr>
              <a:tr h="500380">
                <a:tc>
                  <a:txBody>
                    <a:bodyPr/>
                    <a:lstStyle/>
                    <a:p>
                      <a:r>
                        <a:rPr lang="vi-VN" dirty="0"/>
                        <a:t>2</a:t>
                      </a:r>
                    </a:p>
                  </a:txBody>
                  <a:tcPr/>
                </a:tc>
                <a:extLst>
                  <a:ext uri="{0D108BD9-81ED-4DB2-BD59-A6C34878D82A}">
                    <a16:rowId xmlns:a16="http://schemas.microsoft.com/office/drawing/2014/main" val="3276320407"/>
                  </a:ext>
                </a:extLst>
              </a:tr>
            </a:tbl>
          </a:graphicData>
        </a:graphic>
      </p:graphicFrame>
      <p:sp>
        <p:nvSpPr>
          <p:cNvPr id="14" name="Arrow: Right 13">
            <a:extLst>
              <a:ext uri="{FF2B5EF4-FFF2-40B4-BE49-F238E27FC236}">
                <a16:creationId xmlns:a16="http://schemas.microsoft.com/office/drawing/2014/main" id="{2805B57C-26F2-44A4-AEA7-B1AF5CE2C6B4}"/>
              </a:ext>
            </a:extLst>
          </p:cNvPr>
          <p:cNvSpPr/>
          <p:nvPr/>
        </p:nvSpPr>
        <p:spPr>
          <a:xfrm>
            <a:off x="3243580" y="4246879"/>
            <a:ext cx="1422400" cy="162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Arrow: Right 14">
            <a:extLst>
              <a:ext uri="{FF2B5EF4-FFF2-40B4-BE49-F238E27FC236}">
                <a16:creationId xmlns:a16="http://schemas.microsoft.com/office/drawing/2014/main" id="{1DA7F6BF-B2DC-4928-977B-2FDEBDE36F87}"/>
              </a:ext>
            </a:extLst>
          </p:cNvPr>
          <p:cNvSpPr/>
          <p:nvPr/>
        </p:nvSpPr>
        <p:spPr>
          <a:xfrm>
            <a:off x="5572759" y="4216400"/>
            <a:ext cx="990600" cy="162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aphicFrame>
        <p:nvGraphicFramePr>
          <p:cNvPr id="18" name="Table 9">
            <a:extLst>
              <a:ext uri="{FF2B5EF4-FFF2-40B4-BE49-F238E27FC236}">
                <a16:creationId xmlns:a16="http://schemas.microsoft.com/office/drawing/2014/main" id="{A8ED7ABA-E68C-45F2-B696-805684BA69D1}"/>
              </a:ext>
            </a:extLst>
          </p:cNvPr>
          <p:cNvGraphicFramePr>
            <a:graphicFrameLocks noGrp="1"/>
          </p:cNvGraphicFramePr>
          <p:nvPr>
            <p:extLst>
              <p:ext uri="{D42A27DB-BD31-4B8C-83A1-F6EECF244321}">
                <p14:modId xmlns:p14="http://schemas.microsoft.com/office/powerpoint/2010/main" val="2359676528"/>
              </p:ext>
            </p:extLst>
          </p:nvPr>
        </p:nvGraphicFramePr>
        <p:xfrm>
          <a:off x="6715762" y="3281679"/>
          <a:ext cx="843280" cy="2001520"/>
        </p:xfrm>
        <a:graphic>
          <a:graphicData uri="http://schemas.openxmlformats.org/drawingml/2006/table">
            <a:tbl>
              <a:tblPr firstRow="1" bandRow="1">
                <a:tableStyleId>{5940675A-B579-460E-94D1-54222C63F5DA}</a:tableStyleId>
              </a:tblPr>
              <a:tblGrid>
                <a:gridCol w="843280">
                  <a:extLst>
                    <a:ext uri="{9D8B030D-6E8A-4147-A177-3AD203B41FA5}">
                      <a16:colId xmlns:a16="http://schemas.microsoft.com/office/drawing/2014/main" val="3977867297"/>
                    </a:ext>
                  </a:extLst>
                </a:gridCol>
              </a:tblGrid>
              <a:tr h="500380">
                <a:tc>
                  <a:txBody>
                    <a:bodyPr/>
                    <a:lstStyle/>
                    <a:p>
                      <a:r>
                        <a:rPr lang="vi-VN" dirty="0"/>
                        <a:t>0.105</a:t>
                      </a:r>
                    </a:p>
                  </a:txBody>
                  <a:tcPr/>
                </a:tc>
                <a:extLst>
                  <a:ext uri="{0D108BD9-81ED-4DB2-BD59-A6C34878D82A}">
                    <a16:rowId xmlns:a16="http://schemas.microsoft.com/office/drawing/2014/main" val="2553368480"/>
                  </a:ext>
                </a:extLst>
              </a:tr>
              <a:tr h="500380">
                <a:tc>
                  <a:txBody>
                    <a:bodyPr/>
                    <a:lstStyle/>
                    <a:p>
                      <a:r>
                        <a:rPr lang="vi-VN" dirty="0"/>
                        <a:t>0.096</a:t>
                      </a:r>
                    </a:p>
                  </a:txBody>
                  <a:tcPr/>
                </a:tc>
                <a:extLst>
                  <a:ext uri="{0D108BD9-81ED-4DB2-BD59-A6C34878D82A}">
                    <a16:rowId xmlns:a16="http://schemas.microsoft.com/office/drawing/2014/main" val="2584093877"/>
                  </a:ext>
                </a:extLst>
              </a:tr>
              <a:tr h="500380">
                <a:tc>
                  <a:txBody>
                    <a:bodyPr/>
                    <a:lstStyle/>
                    <a:p>
                      <a:r>
                        <a:rPr lang="vi-VN" dirty="0"/>
                        <a:t>0.095</a:t>
                      </a:r>
                    </a:p>
                  </a:txBody>
                  <a:tcPr/>
                </a:tc>
                <a:extLst>
                  <a:ext uri="{0D108BD9-81ED-4DB2-BD59-A6C34878D82A}">
                    <a16:rowId xmlns:a16="http://schemas.microsoft.com/office/drawing/2014/main" val="1465092729"/>
                  </a:ext>
                </a:extLst>
              </a:tr>
              <a:tr h="500380">
                <a:tc>
                  <a:txBody>
                    <a:bodyPr/>
                    <a:lstStyle/>
                    <a:p>
                      <a:r>
                        <a:rPr lang="vi-VN" dirty="0"/>
                        <a:t>0.703</a:t>
                      </a:r>
                    </a:p>
                  </a:txBody>
                  <a:tcPr/>
                </a:tc>
                <a:extLst>
                  <a:ext uri="{0D108BD9-81ED-4DB2-BD59-A6C34878D82A}">
                    <a16:rowId xmlns:a16="http://schemas.microsoft.com/office/drawing/2014/main" val="3276320407"/>
                  </a:ext>
                </a:extLst>
              </a:tr>
            </a:tbl>
          </a:graphicData>
        </a:graphic>
      </p:graphicFrame>
      <p:cxnSp>
        <p:nvCxnSpPr>
          <p:cNvPr id="30" name="Straight Arrow Connector 29">
            <a:extLst>
              <a:ext uri="{FF2B5EF4-FFF2-40B4-BE49-F238E27FC236}">
                <a16:creationId xmlns:a16="http://schemas.microsoft.com/office/drawing/2014/main" id="{F2C0E592-0E8A-42F5-AF5F-07B435B118B7}"/>
              </a:ext>
            </a:extLst>
          </p:cNvPr>
          <p:cNvCxnSpPr>
            <a:cxnSpLocks/>
          </p:cNvCxnSpPr>
          <p:nvPr/>
        </p:nvCxnSpPr>
        <p:spPr>
          <a:xfrm flipH="1">
            <a:off x="7376160" y="2529840"/>
            <a:ext cx="254000" cy="899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9011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172</Words>
  <Application>Microsoft Office PowerPoint</Application>
  <PresentationFormat>Widescreen</PresentationFormat>
  <Paragraphs>75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vt:lpstr>
      <vt:lpstr>Office Theme</vt:lpstr>
      <vt:lpstr>Kiến trúc CNN</vt:lpstr>
      <vt:lpstr>Convolution Layer</vt:lpstr>
      <vt:lpstr>Nonlinear Layer </vt:lpstr>
      <vt:lpstr>Pooling Layer</vt:lpstr>
      <vt:lpstr>Fully Connected Layer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Kiến trúc CNN</dc:title>
  <dc:creator>Ngo Minh Quang 20173326</dc:creator>
  <cp:lastModifiedBy>Ngo Minh Quang 20173326</cp:lastModifiedBy>
  <cp:revision>33</cp:revision>
  <dcterms:created xsi:type="dcterms:W3CDTF">2020-05-19T14:36:38Z</dcterms:created>
  <dcterms:modified xsi:type="dcterms:W3CDTF">2020-06-20T13:25:23Z</dcterms:modified>
</cp:coreProperties>
</file>