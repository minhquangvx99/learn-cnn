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8" d="100"/>
          <a:sy n="48" d="100"/>
        </p:scale>
        <p:origin x="67" y="8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3D08F-FB24-4B94-AF05-FF6C703595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E10BCB46-C767-4826-B3B9-CC232C370D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F33968E4-6CE8-4863-8679-4119E6F7F09F}"/>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5" name="Footer Placeholder 4">
            <a:extLst>
              <a:ext uri="{FF2B5EF4-FFF2-40B4-BE49-F238E27FC236}">
                <a16:creationId xmlns:a16="http://schemas.microsoft.com/office/drawing/2014/main" id="{3A7A3C0D-DD5B-4BE3-AA4C-68A2BC2BA936}"/>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EFD52D6-670B-4CA3-BEE3-D04FFDA96AA4}"/>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3980874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ABFE-0BED-4D62-AFA9-751BE9525193}"/>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1E0138CA-BD0D-47D9-BE45-416F32B481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94E9977F-1DAB-4037-A283-2BAD5EDAC713}"/>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5" name="Footer Placeholder 4">
            <a:extLst>
              <a:ext uri="{FF2B5EF4-FFF2-40B4-BE49-F238E27FC236}">
                <a16:creationId xmlns:a16="http://schemas.microsoft.com/office/drawing/2014/main" id="{FA4AB40C-F7B1-44D2-83E8-6D53F948662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08D9110C-473B-4581-A16E-56B4458A7898}"/>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1281468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DA26D-D6D7-4B42-A90B-2A2AAEA5C5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4C5D8EF8-F2D8-41A7-B941-189240D4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C410CC-8954-40E9-83C4-DC91C64096AD}"/>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5" name="Footer Placeholder 4">
            <a:extLst>
              <a:ext uri="{FF2B5EF4-FFF2-40B4-BE49-F238E27FC236}">
                <a16:creationId xmlns:a16="http://schemas.microsoft.com/office/drawing/2014/main" id="{C881DEAE-8BAE-4FDD-8A82-91CA3B2CE72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DBB7B7B2-9F7B-45F0-9AA1-1455601B867F}"/>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3432321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474C-48D9-42DC-BCCF-80D41D287EEC}"/>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5085E71-2133-4CB6-A1E1-B4F465CA3B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D14D7D41-69B9-4D86-AE9C-24676C1D52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EFAFB0A4-3696-45B6-9DE8-90CC456C34F3}"/>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6" name="Footer Placeholder 5">
            <a:extLst>
              <a:ext uri="{FF2B5EF4-FFF2-40B4-BE49-F238E27FC236}">
                <a16:creationId xmlns:a16="http://schemas.microsoft.com/office/drawing/2014/main" id="{9ACC2E46-0F51-4631-9C89-A2A21B9EBA55}"/>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EE07121C-FD2C-460C-A21A-A21B54D17358}"/>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501489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DCABA-E8D6-4808-BC94-F9312F11A9B0}"/>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42847BCA-FAC8-4B15-A5B4-B5324F78A5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7476CE-7F94-4631-81CC-4E3833E806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6463CE12-6E5C-492C-A76A-F64A93F47B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5B3D45-F99E-4032-B847-C32573212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18308F4D-3AD0-4CBA-9ED4-01F26C828DCE}"/>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8" name="Footer Placeholder 7">
            <a:extLst>
              <a:ext uri="{FF2B5EF4-FFF2-40B4-BE49-F238E27FC236}">
                <a16:creationId xmlns:a16="http://schemas.microsoft.com/office/drawing/2014/main" id="{D3EB2369-5D41-41EA-9267-340DD4A81481}"/>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1B92BA0B-3667-45AE-B56E-8B07CDC248BB}"/>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1996838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912CE-1E3D-4DCA-B80C-6E1591BC7DA4}"/>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C25371B5-DEB3-4976-944B-70B81CB25C41}"/>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4" name="Footer Placeholder 3">
            <a:extLst>
              <a:ext uri="{FF2B5EF4-FFF2-40B4-BE49-F238E27FC236}">
                <a16:creationId xmlns:a16="http://schemas.microsoft.com/office/drawing/2014/main" id="{9AF0A2CC-969E-414D-8B5C-7FC503165409}"/>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567C8D4D-EB05-4371-9C5A-9AB65720C669}"/>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1833308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565F61-B30C-4D21-A685-21C1E9A3FBFA}"/>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3" name="Footer Placeholder 2">
            <a:extLst>
              <a:ext uri="{FF2B5EF4-FFF2-40B4-BE49-F238E27FC236}">
                <a16:creationId xmlns:a16="http://schemas.microsoft.com/office/drawing/2014/main" id="{5F371872-F52C-462A-B32B-B0509AB28CFC}"/>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A83788DB-F7CC-46E2-964B-AE5DBEDF6DD7}"/>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15185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815A-3F79-4D63-A682-50227D07AE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AC6F3464-4762-4296-A1FB-E30E76512C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ABE70DFF-87D8-4371-A0A6-001726C6DD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00748C-A395-4B01-A121-9F8C693DE888}"/>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6" name="Footer Placeholder 5">
            <a:extLst>
              <a:ext uri="{FF2B5EF4-FFF2-40B4-BE49-F238E27FC236}">
                <a16:creationId xmlns:a16="http://schemas.microsoft.com/office/drawing/2014/main" id="{B7A5C914-FD69-44E1-81BC-26CD8B565A25}"/>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DAA8FDE6-9E23-4E8A-A0DF-7087CC43EB67}"/>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4061334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1B3BF-D9D5-48E3-8175-BE27136077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DC8DBFEA-4034-42A7-A7BC-B479FB2EEA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F84847CF-1E3D-42BF-AB8D-31CDAC335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7DEDAF-B3F5-4093-8407-F450935F42D0}"/>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6" name="Footer Placeholder 5">
            <a:extLst>
              <a:ext uri="{FF2B5EF4-FFF2-40B4-BE49-F238E27FC236}">
                <a16:creationId xmlns:a16="http://schemas.microsoft.com/office/drawing/2014/main" id="{4F49D8BB-9364-4FA3-9776-18135CEC3EDD}"/>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97FBE515-8049-4FA0-A9EB-B887B7FE6787}"/>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985263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5180-167C-4C5B-9E0D-D86EF4F43B7F}"/>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636B259C-B2A9-4EC1-ADDD-03CAE3ABB5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7CEF782B-9847-4B40-BEAC-2364AAD2846B}"/>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5" name="Footer Placeholder 4">
            <a:extLst>
              <a:ext uri="{FF2B5EF4-FFF2-40B4-BE49-F238E27FC236}">
                <a16:creationId xmlns:a16="http://schemas.microsoft.com/office/drawing/2014/main" id="{22CB36C2-10E9-4981-B2E7-D31B72A5218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37B96D76-959F-4666-B8B0-55DF13EA7221}"/>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3739904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FE399B-6B45-468D-948C-AE0F2D1004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895736E-A07E-47AD-A518-94AE5AAF52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77FB2E9-CE1B-4B5A-A787-FDCC776693EB}"/>
              </a:ext>
            </a:extLst>
          </p:cNvPr>
          <p:cNvSpPr>
            <a:spLocks noGrp="1"/>
          </p:cNvSpPr>
          <p:nvPr>
            <p:ph type="dt" sz="half" idx="10"/>
          </p:nvPr>
        </p:nvSpPr>
        <p:spPr/>
        <p:txBody>
          <a:bodyPr/>
          <a:lstStyle/>
          <a:p>
            <a:fld id="{447FC2B6-D907-4259-91A3-3B512C3F3C8C}" type="datetimeFigureOut">
              <a:rPr lang="vi-VN" smtClean="0"/>
              <a:t>20/05/2020</a:t>
            </a:fld>
            <a:endParaRPr lang="vi-VN"/>
          </a:p>
        </p:txBody>
      </p:sp>
      <p:sp>
        <p:nvSpPr>
          <p:cNvPr id="5" name="Footer Placeholder 4">
            <a:extLst>
              <a:ext uri="{FF2B5EF4-FFF2-40B4-BE49-F238E27FC236}">
                <a16:creationId xmlns:a16="http://schemas.microsoft.com/office/drawing/2014/main" id="{7C5EE393-697C-4159-B95B-6B373B6001CE}"/>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1E13EC46-3DFA-4D30-A1E5-9E00BB66A3CD}"/>
              </a:ext>
            </a:extLst>
          </p:cNvPr>
          <p:cNvSpPr>
            <a:spLocks noGrp="1"/>
          </p:cNvSpPr>
          <p:nvPr>
            <p:ph type="sldNum" sz="quarter" idx="12"/>
          </p:nvPr>
        </p:nvSpPr>
        <p:spPr/>
        <p:txBody>
          <a:bodyPr/>
          <a:lstStyle/>
          <a:p>
            <a:fld id="{A01C623E-ABBA-4B8C-99C7-0FB3A958EC4B}" type="slidenum">
              <a:rPr lang="vi-VN" smtClean="0"/>
              <a:t>‹#›</a:t>
            </a:fld>
            <a:endParaRPr lang="vi-VN"/>
          </a:p>
        </p:txBody>
      </p:sp>
    </p:spTree>
    <p:extLst>
      <p:ext uri="{BB962C8B-B14F-4D97-AF65-F5344CB8AC3E}">
        <p14:creationId xmlns:p14="http://schemas.microsoft.com/office/powerpoint/2010/main" val="407978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55C61E-9E3F-4BC2-B2E4-49CCC27D84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AB51D9AB-805C-423E-9052-D2E91821AB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DEEAFD7-F1FE-4056-A365-C2C3BC9848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7FC2B6-D907-4259-91A3-3B512C3F3C8C}" type="datetimeFigureOut">
              <a:rPr lang="vi-VN" smtClean="0"/>
              <a:t>20/05/2020</a:t>
            </a:fld>
            <a:endParaRPr lang="vi-VN"/>
          </a:p>
        </p:txBody>
      </p:sp>
      <p:sp>
        <p:nvSpPr>
          <p:cNvPr id="5" name="Footer Placeholder 4">
            <a:extLst>
              <a:ext uri="{FF2B5EF4-FFF2-40B4-BE49-F238E27FC236}">
                <a16:creationId xmlns:a16="http://schemas.microsoft.com/office/drawing/2014/main" id="{7C40689F-1968-4161-96A7-1FE73F3B86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A788163D-4ECF-4EBB-A1A2-9FBA02F35F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1C623E-ABBA-4B8C-99C7-0FB3A958EC4B}" type="slidenum">
              <a:rPr lang="vi-VN" smtClean="0"/>
              <a:t>‹#›</a:t>
            </a:fld>
            <a:endParaRPr lang="vi-VN"/>
          </a:p>
        </p:txBody>
      </p:sp>
    </p:spTree>
    <p:extLst>
      <p:ext uri="{BB962C8B-B14F-4D97-AF65-F5344CB8AC3E}">
        <p14:creationId xmlns:p14="http://schemas.microsoft.com/office/powerpoint/2010/main" val="1970406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E32EB-5668-4B2D-BCB8-2E4468381F7B}"/>
              </a:ext>
            </a:extLst>
          </p:cNvPr>
          <p:cNvSpPr>
            <a:spLocks noGrp="1"/>
          </p:cNvSpPr>
          <p:nvPr>
            <p:ph type="ctrTitle"/>
          </p:nvPr>
        </p:nvSpPr>
        <p:spPr>
          <a:xfrm>
            <a:off x="1524000" y="1122363"/>
            <a:ext cx="9144000" cy="2387600"/>
          </a:xfrm>
        </p:spPr>
        <p:txBody>
          <a:bodyPr>
            <a:normAutofit fontScale="90000"/>
          </a:bodyPr>
          <a:lstStyle/>
          <a:p>
            <a:pPr algn="l" fontAlgn="base"/>
            <a:r>
              <a:rPr lang="vi-VN" sz="2700" dirty="0"/>
              <a:t>Ngô Minh Quang MSSV:20173326</a:t>
            </a:r>
            <a:br>
              <a:rPr lang="vi-VN" sz="2700" dirty="0"/>
            </a:br>
            <a:br>
              <a:rPr lang="vi-VN" sz="3600" b="1" dirty="0"/>
            </a:br>
            <a:r>
              <a:rPr lang="vi-VN" sz="3100" b="1" dirty="0"/>
              <a:t>Đề tài: Tìm hiểu Convolutional Neural Networks cho phân loại ảnh.</a:t>
            </a:r>
            <a:br>
              <a:rPr lang="vi-VN" b="1" dirty="0"/>
            </a:br>
            <a:endParaRPr lang="vi-VN" dirty="0"/>
          </a:p>
        </p:txBody>
      </p:sp>
      <p:sp>
        <p:nvSpPr>
          <p:cNvPr id="3" name="Subtitle 2">
            <a:extLst>
              <a:ext uri="{FF2B5EF4-FFF2-40B4-BE49-F238E27FC236}">
                <a16:creationId xmlns:a16="http://schemas.microsoft.com/office/drawing/2014/main" id="{1AEDA14A-5A49-43B8-842D-7368F87C3428}"/>
              </a:ext>
            </a:extLst>
          </p:cNvPr>
          <p:cNvSpPr>
            <a:spLocks noGrp="1"/>
          </p:cNvSpPr>
          <p:nvPr>
            <p:ph type="subTitle" idx="1"/>
          </p:nvPr>
        </p:nvSpPr>
        <p:spPr/>
        <p:txBody>
          <a:bodyPr>
            <a:normAutofit/>
          </a:bodyPr>
          <a:lstStyle/>
          <a:p>
            <a:pPr algn="l" fontAlgn="base"/>
            <a:br>
              <a:rPr lang="vi-VN" dirty="0"/>
            </a:br>
            <a:br>
              <a:rPr lang="vi-VN" dirty="0"/>
            </a:br>
            <a:endParaRPr lang="vi-VN" dirty="0"/>
          </a:p>
        </p:txBody>
      </p:sp>
    </p:spTree>
    <p:extLst>
      <p:ext uri="{BB962C8B-B14F-4D97-AF65-F5344CB8AC3E}">
        <p14:creationId xmlns:p14="http://schemas.microsoft.com/office/powerpoint/2010/main" val="1069960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F3510-C2DF-49AF-8889-CA8031959695}"/>
              </a:ext>
            </a:extLst>
          </p:cNvPr>
          <p:cNvSpPr>
            <a:spLocks noGrp="1"/>
          </p:cNvSpPr>
          <p:nvPr>
            <p:ph type="title"/>
          </p:nvPr>
        </p:nvSpPr>
        <p:spPr/>
        <p:txBody>
          <a:bodyPr/>
          <a:lstStyle/>
          <a:p>
            <a:r>
              <a:rPr lang="vi-VN" sz="2800" b="1" dirty="0"/>
              <a:t>Giới Thiệu</a:t>
            </a:r>
            <a:br>
              <a:rPr lang="vi-VN" dirty="0"/>
            </a:br>
            <a:endParaRPr lang="vi-VN" dirty="0"/>
          </a:p>
        </p:txBody>
      </p:sp>
      <p:sp>
        <p:nvSpPr>
          <p:cNvPr id="3" name="Content Placeholder 2">
            <a:extLst>
              <a:ext uri="{FF2B5EF4-FFF2-40B4-BE49-F238E27FC236}">
                <a16:creationId xmlns:a16="http://schemas.microsoft.com/office/drawing/2014/main" id="{D9A62BAA-8A24-4F7A-8812-852051CD0BC8}"/>
              </a:ext>
            </a:extLst>
          </p:cNvPr>
          <p:cNvSpPr>
            <a:spLocks noGrp="1"/>
          </p:cNvSpPr>
          <p:nvPr>
            <p:ph idx="1"/>
          </p:nvPr>
        </p:nvSpPr>
        <p:spPr/>
        <p:txBody>
          <a:bodyPr>
            <a:normAutofit/>
          </a:bodyPr>
          <a:lstStyle/>
          <a:p>
            <a:pPr marL="0" indent="0">
              <a:buNone/>
            </a:pPr>
            <a:r>
              <a:rPr lang="vi-VN" sz="2000" dirty="0"/>
              <a:t>Convolutional Neural Networks (CNN) là một trong những mô hình deep learning phổ biến nhất và có ảnh hưởng nhiều nhất trong cộng đồng Computer Vision. CNN được dùng trong trong nhiều bài toán như nhân dạng ảnh, phân tích video, ảnh MRI, hoặc cho bài các bài của lĩnh vự xử lý ngôn ngữ tự nhiên,và hầu hết đều giải quyết tốt các bài toán này.</a:t>
            </a:r>
          </a:p>
          <a:p>
            <a:pPr marL="0" indent="0">
              <a:buNone/>
            </a:pPr>
            <a:r>
              <a:rPr lang="vi-VN" sz="2000" dirty="0"/>
              <a:t>CNN cũng có lịch sử khá lâu đời. Kiến trúc gốc của mô hình CNN được giới thiệu bởi một nhà khoa học máy tính người Nhật vào năm 1980. Sau đó, năm 1998, Yan LeCun lần đầu huấn luyện mô hình CNN với thuật toán backpropagation cho bài toán nhận dạng chữ viết tay. Tuy nhiên, mãi đến năm 2012, khi một nhà khoa học máy tính người Ukraine Alex Krizhevsky (đệ của Geoffrey Hinton) xây dựng mô hình CNN (AlexNet) và sử dụng GPU để tăng tốc quá trình huấn luyện deep nets để đạt được top 1 trong cuộc thi Computer Vision thường niên ImageNet với độ lỗi phân lớp top 5 giảm hơn 10% so với những mô hình truyền thống trước đó, đã tạo nên làn sóng mãnh mẽ sử dụng deep CNN với sự hỗ trợ của GPU để giải quyết càng nhiều các vấn đề trong Computer Vision.</a:t>
            </a:r>
          </a:p>
          <a:p>
            <a:endParaRPr lang="vi-VN" dirty="0"/>
          </a:p>
        </p:txBody>
      </p:sp>
    </p:spTree>
    <p:extLst>
      <p:ext uri="{BB962C8B-B14F-4D97-AF65-F5344CB8AC3E}">
        <p14:creationId xmlns:p14="http://schemas.microsoft.com/office/powerpoint/2010/main" val="3682118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C98E2-6A7D-40DB-9497-348631E36ACA}"/>
              </a:ext>
            </a:extLst>
          </p:cNvPr>
          <p:cNvSpPr>
            <a:spLocks noGrp="1"/>
          </p:cNvSpPr>
          <p:nvPr>
            <p:ph type="title"/>
          </p:nvPr>
        </p:nvSpPr>
        <p:spPr/>
        <p:txBody>
          <a:bodyPr/>
          <a:lstStyle/>
          <a:p>
            <a:r>
              <a:rPr lang="vi-VN" sz="2800" b="1" dirty="0"/>
              <a:t>Cấu trúc CNN</a:t>
            </a:r>
            <a:br>
              <a:rPr lang="vi-VN" b="1" dirty="0"/>
            </a:br>
            <a:endParaRPr lang="vi-VN" dirty="0"/>
          </a:p>
        </p:txBody>
      </p:sp>
      <p:sp>
        <p:nvSpPr>
          <p:cNvPr id="3" name="Content Placeholder 2">
            <a:extLst>
              <a:ext uri="{FF2B5EF4-FFF2-40B4-BE49-F238E27FC236}">
                <a16:creationId xmlns:a16="http://schemas.microsoft.com/office/drawing/2014/main" id="{D86AACBD-5F9B-4D7F-B63A-4D58823FDFE0}"/>
              </a:ext>
            </a:extLst>
          </p:cNvPr>
          <p:cNvSpPr>
            <a:spLocks noGrp="1"/>
          </p:cNvSpPr>
          <p:nvPr>
            <p:ph idx="1"/>
          </p:nvPr>
        </p:nvSpPr>
        <p:spPr/>
        <p:txBody>
          <a:bodyPr/>
          <a:lstStyle/>
          <a:p>
            <a:pPr marL="0" indent="0" fontAlgn="base">
              <a:buNone/>
            </a:pPr>
            <a:r>
              <a:rPr lang="vi-VN" sz="2000" dirty="0"/>
              <a:t>CNN bao gồm tập hợp các lớp cơ bản bao gồm: convolution layer + nonlinear layer, pooling layer, fully connected layer. Các lớp này liên kết với nhau theo một thứ tự nhất định. Thông thường, một ảnh sẽ được lan truyền qua tầng convolution layer + nonlinear layer đầu tiên, sau đó các giá trị tính toán được sẽ lan truyền qua pooling layer, bộ ba convolution layer + nonlinear layer + pooling layer có thể được lặp lại nhiều lần trong network. Và sau đó được lan truyền qua tầng fully connected layer và softmax để tính sác xuất ảnh đó chứa vật thế gì.</a:t>
            </a:r>
          </a:p>
          <a:p>
            <a:endParaRPr lang="vi-VN" dirty="0"/>
          </a:p>
        </p:txBody>
      </p:sp>
    </p:spTree>
    <p:extLst>
      <p:ext uri="{BB962C8B-B14F-4D97-AF65-F5344CB8AC3E}">
        <p14:creationId xmlns:p14="http://schemas.microsoft.com/office/powerpoint/2010/main" val="3708328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8D246-A1DB-4D26-88D0-AE106E24F027}"/>
              </a:ext>
            </a:extLst>
          </p:cNvPr>
          <p:cNvSpPr>
            <a:spLocks noGrp="1"/>
          </p:cNvSpPr>
          <p:nvPr>
            <p:ph type="title"/>
          </p:nvPr>
        </p:nvSpPr>
        <p:spPr/>
        <p:txBody>
          <a:bodyPr/>
          <a:lstStyle/>
          <a:p>
            <a:r>
              <a:rPr lang="vi-VN" sz="2800" b="1" dirty="0"/>
              <a:t>Convolution Layer</a:t>
            </a:r>
            <a:br>
              <a:rPr lang="vi-VN" b="1" dirty="0"/>
            </a:br>
            <a:endParaRPr lang="vi-VN" dirty="0"/>
          </a:p>
        </p:txBody>
      </p:sp>
      <p:sp>
        <p:nvSpPr>
          <p:cNvPr id="3" name="Content Placeholder 2">
            <a:extLst>
              <a:ext uri="{FF2B5EF4-FFF2-40B4-BE49-F238E27FC236}">
                <a16:creationId xmlns:a16="http://schemas.microsoft.com/office/drawing/2014/main" id="{9EB43237-0B1F-4F5D-947A-50E9585E25A4}"/>
              </a:ext>
            </a:extLst>
          </p:cNvPr>
          <p:cNvSpPr>
            <a:spLocks noGrp="1"/>
          </p:cNvSpPr>
          <p:nvPr>
            <p:ph idx="1"/>
          </p:nvPr>
        </p:nvSpPr>
        <p:spPr/>
        <p:txBody>
          <a:bodyPr>
            <a:normAutofit lnSpcReduction="10000"/>
          </a:bodyPr>
          <a:lstStyle/>
          <a:p>
            <a:pPr marL="0" indent="0" fontAlgn="base">
              <a:buNone/>
            </a:pPr>
            <a:r>
              <a:rPr lang="vi-VN" sz="2000" dirty="0"/>
              <a:t>Convolution layer là lớp quan trọng nhất và cũng là lớp đầu tiên của của mô hình CNN. Lớp này có chức năng chính là phát hiện các đặc trưng có tính không gian hiệu quả. Trong tầng này có 4 đối tượng chính là: ma trận đầu vào, bộ </a:t>
            </a:r>
            <a:r>
              <a:rPr lang="vi-VN" sz="2000" b="1" dirty="0"/>
              <a:t>filters (</a:t>
            </a:r>
            <a:r>
              <a:rPr lang="vi-VN" sz="2000" dirty="0"/>
              <a:t>kernels), </a:t>
            </a:r>
            <a:r>
              <a:rPr lang="vi-VN" sz="2000" b="1" dirty="0"/>
              <a:t>receptive field </a:t>
            </a:r>
            <a:r>
              <a:rPr lang="vi-VN" sz="2000" dirty="0"/>
              <a:t>(vùng tương ứng với filter) và </a:t>
            </a:r>
            <a:r>
              <a:rPr lang="vi-VN" sz="2000" b="1" dirty="0"/>
              <a:t>feature map </a:t>
            </a:r>
            <a:r>
              <a:rPr lang="vi-VN" sz="2000" dirty="0"/>
              <a:t>(ma trận đầu ra). Conv layer nhận đầu vào là một ma trận 3 chiều và một bộ filters cần phải học. Bộ filters này sẽ trượt qua từng vị trí trên bức ảnh để tính tích chập (convolution) giữa bộ filter và phần tương ứng trên bức ảnh. Phần tưng ứng này trên bức ảnh gọi là receptive field, tức là vùng mà một neuron có thể nhìn thấy để đưa ra quyết định, và mà trận cho ra bới quá trình này được gọi là feature map. Các bộ filters tìm kiếm được đặc trưng nhất định thì tích chập đó sẽ cho giá trị lớn, những vị trí còn lại sẽ cho giá trị thấp hơn.</a:t>
            </a:r>
            <a:br>
              <a:rPr lang="vi-VN" sz="2000" dirty="0"/>
            </a:br>
            <a:r>
              <a:rPr lang="vi-VN" sz="2000" dirty="0"/>
              <a:t>Mỗi giá trị ở feature map được tính bằng tổng của tích các phần tử tương ứng của bộ filter với receptive field trên ảnh. Và để tính tất cả các giá trị cho feature map, ta cần trượt filter từ trái sáng phải, từ trên xuống dưới. Do đó, ta có thể thấy rằng phép convolution bảo toàn thứ tự không gian của các điểm ảnh. ví dụ điểm góc gái của dữ liệu đầu vào sẽ tương ứng với bên một điểm bên góc trái của feature map.</a:t>
            </a:r>
            <a:br>
              <a:rPr lang="vi-VN" sz="2000" dirty="0"/>
            </a:br>
            <a:endParaRPr lang="vi-VN" sz="2000" dirty="0"/>
          </a:p>
        </p:txBody>
      </p:sp>
    </p:spTree>
    <p:extLst>
      <p:ext uri="{BB962C8B-B14F-4D97-AF65-F5344CB8AC3E}">
        <p14:creationId xmlns:p14="http://schemas.microsoft.com/office/powerpoint/2010/main" val="145199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77BFB-65E1-4E9E-A6B5-3D989C8B580D}"/>
              </a:ext>
            </a:extLst>
          </p:cNvPr>
          <p:cNvSpPr>
            <a:spLocks noGrp="1"/>
          </p:cNvSpPr>
          <p:nvPr>
            <p:ph type="title"/>
          </p:nvPr>
        </p:nvSpPr>
        <p:spPr/>
        <p:txBody>
          <a:bodyPr/>
          <a:lstStyle/>
          <a:p>
            <a:br>
              <a:rPr lang="en-US" b="1" dirty="0"/>
            </a:br>
            <a:endParaRPr lang="vi-VN" dirty="0"/>
          </a:p>
        </p:txBody>
      </p:sp>
      <p:sp>
        <p:nvSpPr>
          <p:cNvPr id="3" name="Content Placeholder 2">
            <a:extLst>
              <a:ext uri="{FF2B5EF4-FFF2-40B4-BE49-F238E27FC236}">
                <a16:creationId xmlns:a16="http://schemas.microsoft.com/office/drawing/2014/main" id="{6B018B81-0347-49D4-83BF-14420459868A}"/>
              </a:ext>
            </a:extLst>
          </p:cNvPr>
          <p:cNvSpPr>
            <a:spLocks noGrp="1"/>
          </p:cNvSpPr>
          <p:nvPr>
            <p:ph idx="1"/>
          </p:nvPr>
        </p:nvSpPr>
        <p:spPr/>
        <p:txBody>
          <a:bodyPr>
            <a:normAutofit/>
          </a:bodyPr>
          <a:lstStyle/>
          <a:p>
            <a:pPr marL="0" indent="0">
              <a:buNone/>
            </a:pPr>
            <a:r>
              <a:rPr lang="vi-VN" sz="2000" dirty="0"/>
              <a:t>Tầng convolution có chức năng chính là phát hiện đặc trưng cụ thể của bức ảnh. Những đặc trưng này bao gồm đặc trưng cơ bản là góc,cạnh, màu sắc, hoặc đặc trưng phức tạp hơn như kết cấu của ảnh. Vì bộ filter quét qua toàn bộ bức ảnh, nên những đặc trưng này có thể nằm ở vị trí bất kì trong bức ảnh, cho dù ảnh bị xoáy trái/phải thì những đặc trưng này vẫn bị phát hiện.</a:t>
            </a:r>
          </a:p>
          <a:p>
            <a:pPr marL="0" indent="0">
              <a:buNone/>
            </a:pPr>
            <a:r>
              <a:rPr lang="vi-VN" sz="2000" dirty="0"/>
              <a:t>Ở minh họa dưới, ta có một filter 5x5 dùng để phát hiện góc/cạnh với, filter này chỉ có giá trị một tại các điểm tương ứng một góc cong.</a:t>
            </a:r>
          </a:p>
          <a:p>
            <a:pPr marL="0" indent="0">
              <a:buNone/>
            </a:pPr>
            <a:r>
              <a:rPr lang="vi-VN" sz="2000" dirty="0"/>
              <a:t> Dùng nhiều bộ filters sẽ cho phép ta phát hiện được nhiều loại đặc trưng khác nhau,và giúp định danh được đối tượng.</a:t>
            </a:r>
          </a:p>
        </p:txBody>
      </p:sp>
      <p:graphicFrame>
        <p:nvGraphicFramePr>
          <p:cNvPr id="4" name="Table 4">
            <a:extLst>
              <a:ext uri="{FF2B5EF4-FFF2-40B4-BE49-F238E27FC236}">
                <a16:creationId xmlns:a16="http://schemas.microsoft.com/office/drawing/2014/main" id="{5F20DB26-901C-47FC-974D-B3B3C08C3CA1}"/>
              </a:ext>
            </a:extLst>
          </p:cNvPr>
          <p:cNvGraphicFramePr>
            <a:graphicFrameLocks noGrp="1"/>
          </p:cNvGraphicFramePr>
          <p:nvPr>
            <p:extLst>
              <p:ext uri="{D42A27DB-BD31-4B8C-83A1-F6EECF244321}">
                <p14:modId xmlns:p14="http://schemas.microsoft.com/office/powerpoint/2010/main" val="1573713410"/>
              </p:ext>
            </p:extLst>
          </p:nvPr>
        </p:nvGraphicFramePr>
        <p:xfrm>
          <a:off x="6312023" y="4348162"/>
          <a:ext cx="2228295" cy="1828800"/>
        </p:xfrm>
        <a:graphic>
          <a:graphicData uri="http://schemas.openxmlformats.org/drawingml/2006/table">
            <a:tbl>
              <a:tblPr firstRow="1" bandRow="1">
                <a:tableStyleId>{5940675A-B579-460E-94D1-54222C63F5DA}</a:tableStyleId>
              </a:tblPr>
              <a:tblGrid>
                <a:gridCol w="445659">
                  <a:extLst>
                    <a:ext uri="{9D8B030D-6E8A-4147-A177-3AD203B41FA5}">
                      <a16:colId xmlns:a16="http://schemas.microsoft.com/office/drawing/2014/main" val="796382847"/>
                    </a:ext>
                  </a:extLst>
                </a:gridCol>
                <a:gridCol w="445659">
                  <a:extLst>
                    <a:ext uri="{9D8B030D-6E8A-4147-A177-3AD203B41FA5}">
                      <a16:colId xmlns:a16="http://schemas.microsoft.com/office/drawing/2014/main" val="2350937524"/>
                    </a:ext>
                  </a:extLst>
                </a:gridCol>
                <a:gridCol w="445659">
                  <a:extLst>
                    <a:ext uri="{9D8B030D-6E8A-4147-A177-3AD203B41FA5}">
                      <a16:colId xmlns:a16="http://schemas.microsoft.com/office/drawing/2014/main" val="4160007734"/>
                    </a:ext>
                  </a:extLst>
                </a:gridCol>
                <a:gridCol w="445659">
                  <a:extLst>
                    <a:ext uri="{9D8B030D-6E8A-4147-A177-3AD203B41FA5}">
                      <a16:colId xmlns:a16="http://schemas.microsoft.com/office/drawing/2014/main" val="973922231"/>
                    </a:ext>
                  </a:extLst>
                </a:gridCol>
                <a:gridCol w="445659">
                  <a:extLst>
                    <a:ext uri="{9D8B030D-6E8A-4147-A177-3AD203B41FA5}">
                      <a16:colId xmlns:a16="http://schemas.microsoft.com/office/drawing/2014/main" val="3291977930"/>
                    </a:ext>
                  </a:extLst>
                </a:gridCol>
              </a:tblGrid>
              <a:tr h="344074">
                <a:tc>
                  <a:txBody>
                    <a:bodyPr/>
                    <a:lstStyle/>
                    <a:p>
                      <a:r>
                        <a:rPr lang="vi-VN" dirty="0"/>
                        <a:t>0</a:t>
                      </a:r>
                    </a:p>
                  </a:txBody>
                  <a:tcPr/>
                </a:tc>
                <a:tc>
                  <a:txBody>
                    <a:bodyPr/>
                    <a:lstStyle/>
                    <a:p>
                      <a:r>
                        <a:rPr lang="vi-VN" dirty="0"/>
                        <a:t>0</a:t>
                      </a:r>
                    </a:p>
                  </a:txBody>
                  <a:tcPr/>
                </a:tc>
                <a:tc>
                  <a:txBody>
                    <a:bodyPr/>
                    <a:lstStyle/>
                    <a:p>
                      <a:r>
                        <a:rPr lang="vi-VN" dirty="0"/>
                        <a:t>0</a:t>
                      </a:r>
                    </a:p>
                  </a:txBody>
                  <a:tcPr/>
                </a:tc>
                <a:tc>
                  <a:txBody>
                    <a:bodyPr/>
                    <a:lstStyle/>
                    <a:p>
                      <a:r>
                        <a:rPr lang="vi-VN" dirty="0"/>
                        <a:t>1</a:t>
                      </a:r>
                    </a:p>
                  </a:txBody>
                  <a:tcPr/>
                </a:tc>
                <a:tc>
                  <a:txBody>
                    <a:bodyPr/>
                    <a:lstStyle/>
                    <a:p>
                      <a:r>
                        <a:rPr lang="vi-VN" dirty="0"/>
                        <a:t>0</a:t>
                      </a:r>
                    </a:p>
                  </a:txBody>
                  <a:tcPr/>
                </a:tc>
                <a:extLst>
                  <a:ext uri="{0D108BD9-81ED-4DB2-BD59-A6C34878D82A}">
                    <a16:rowId xmlns:a16="http://schemas.microsoft.com/office/drawing/2014/main" val="1288480797"/>
                  </a:ext>
                </a:extLst>
              </a:tr>
              <a:tr h="344074">
                <a:tc>
                  <a:txBody>
                    <a:bodyPr/>
                    <a:lstStyle/>
                    <a:p>
                      <a:r>
                        <a:rPr lang="vi-VN" dirty="0"/>
                        <a:t>0</a:t>
                      </a:r>
                    </a:p>
                  </a:txBody>
                  <a:tcPr/>
                </a:tc>
                <a:tc>
                  <a:txBody>
                    <a:bodyPr/>
                    <a:lstStyle/>
                    <a:p>
                      <a:r>
                        <a:rPr lang="vi-VN" dirty="0"/>
                        <a:t>0</a:t>
                      </a:r>
                    </a:p>
                  </a:txBody>
                  <a:tcPr/>
                </a:tc>
                <a:tc>
                  <a:txBody>
                    <a:bodyPr/>
                    <a:lstStyle/>
                    <a:p>
                      <a:r>
                        <a:rPr lang="vi-VN" dirty="0"/>
                        <a:t>1</a:t>
                      </a:r>
                    </a:p>
                  </a:txBody>
                  <a:tcPr/>
                </a:tc>
                <a:tc>
                  <a:txBody>
                    <a:bodyPr/>
                    <a:lstStyle/>
                    <a:p>
                      <a:r>
                        <a:rPr lang="vi-VN" dirty="0"/>
                        <a:t>0</a:t>
                      </a:r>
                    </a:p>
                  </a:txBody>
                  <a:tcPr/>
                </a:tc>
                <a:tc>
                  <a:txBody>
                    <a:bodyPr/>
                    <a:lstStyle/>
                    <a:p>
                      <a:r>
                        <a:rPr lang="vi-VN" dirty="0"/>
                        <a:t>0</a:t>
                      </a:r>
                    </a:p>
                  </a:txBody>
                  <a:tcPr/>
                </a:tc>
                <a:extLst>
                  <a:ext uri="{0D108BD9-81ED-4DB2-BD59-A6C34878D82A}">
                    <a16:rowId xmlns:a16="http://schemas.microsoft.com/office/drawing/2014/main" val="3028022648"/>
                  </a:ext>
                </a:extLst>
              </a:tr>
              <a:tr h="344074">
                <a:tc>
                  <a:txBody>
                    <a:bodyPr/>
                    <a:lstStyle/>
                    <a:p>
                      <a:r>
                        <a:rPr lang="vi-VN" dirty="0"/>
                        <a:t>0</a:t>
                      </a:r>
                    </a:p>
                  </a:txBody>
                  <a:tcPr/>
                </a:tc>
                <a:tc>
                  <a:txBody>
                    <a:bodyPr/>
                    <a:lstStyle/>
                    <a:p>
                      <a:r>
                        <a:rPr lang="vi-VN" dirty="0"/>
                        <a:t>1</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extLst>
                  <a:ext uri="{0D108BD9-81ED-4DB2-BD59-A6C34878D82A}">
                    <a16:rowId xmlns:a16="http://schemas.microsoft.com/office/drawing/2014/main" val="859146203"/>
                  </a:ext>
                </a:extLst>
              </a:tr>
              <a:tr h="344074">
                <a:tc>
                  <a:txBody>
                    <a:bodyPr/>
                    <a:lstStyle/>
                    <a:p>
                      <a:r>
                        <a:rPr lang="vi-VN" dirty="0"/>
                        <a:t>0</a:t>
                      </a:r>
                    </a:p>
                  </a:txBody>
                  <a:tcPr/>
                </a:tc>
                <a:tc>
                  <a:txBody>
                    <a:bodyPr/>
                    <a:lstStyle/>
                    <a:p>
                      <a:r>
                        <a:rPr lang="vi-VN" dirty="0"/>
                        <a:t>1</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extLst>
                  <a:ext uri="{0D108BD9-81ED-4DB2-BD59-A6C34878D82A}">
                    <a16:rowId xmlns:a16="http://schemas.microsoft.com/office/drawing/2014/main" val="4236615925"/>
                  </a:ext>
                </a:extLst>
              </a:tr>
              <a:tr h="344074">
                <a:tc>
                  <a:txBody>
                    <a:bodyPr/>
                    <a:lstStyle/>
                    <a:p>
                      <a:r>
                        <a:rPr lang="vi-VN" dirty="0"/>
                        <a:t>0</a:t>
                      </a:r>
                    </a:p>
                  </a:txBody>
                  <a:tcPr/>
                </a:tc>
                <a:tc>
                  <a:txBody>
                    <a:bodyPr/>
                    <a:lstStyle/>
                    <a:p>
                      <a:r>
                        <a:rPr lang="vi-VN" dirty="0"/>
                        <a:t>1</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extLst>
                  <a:ext uri="{0D108BD9-81ED-4DB2-BD59-A6C34878D82A}">
                    <a16:rowId xmlns:a16="http://schemas.microsoft.com/office/drawing/2014/main" val="3713875261"/>
                  </a:ext>
                </a:extLst>
              </a:tr>
            </a:tbl>
          </a:graphicData>
        </a:graphic>
      </p:graphicFrame>
    </p:spTree>
    <p:extLst>
      <p:ext uri="{BB962C8B-B14F-4D97-AF65-F5344CB8AC3E}">
        <p14:creationId xmlns:p14="http://schemas.microsoft.com/office/powerpoint/2010/main" val="4248658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6085A-FD1C-4FDC-A23B-2B56C705A7AD}"/>
              </a:ext>
            </a:extLst>
          </p:cNvPr>
          <p:cNvSpPr>
            <a:spLocks noGrp="1"/>
          </p:cNvSpPr>
          <p:nvPr>
            <p:ph type="title"/>
          </p:nvPr>
        </p:nvSpPr>
        <p:spPr/>
        <p:txBody>
          <a:bodyPr/>
          <a:lstStyle/>
          <a:p>
            <a:endParaRPr lang="vi-VN" dirty="0"/>
          </a:p>
        </p:txBody>
      </p:sp>
      <p:sp>
        <p:nvSpPr>
          <p:cNvPr id="3" name="Content Placeholder 2">
            <a:extLst>
              <a:ext uri="{FF2B5EF4-FFF2-40B4-BE49-F238E27FC236}">
                <a16:creationId xmlns:a16="http://schemas.microsoft.com/office/drawing/2014/main" id="{59DAACD5-D309-44F8-A480-FB6B98958F23}"/>
              </a:ext>
            </a:extLst>
          </p:cNvPr>
          <p:cNvSpPr>
            <a:spLocks noGrp="1"/>
          </p:cNvSpPr>
          <p:nvPr>
            <p:ph idx="1"/>
          </p:nvPr>
        </p:nvSpPr>
        <p:spPr/>
        <p:txBody>
          <a:bodyPr/>
          <a:lstStyle/>
          <a:p>
            <a:pPr marL="0" indent="0">
              <a:buNone/>
            </a:pPr>
            <a:r>
              <a:rPr lang="vi-VN" sz="2000" b="1" dirty="0"/>
              <a:t>Các tham số của tầng convolution: Kích thước bộ filter, stride và padding</a:t>
            </a:r>
          </a:p>
          <a:p>
            <a:pPr marL="0" indent="0">
              <a:buNone/>
            </a:pPr>
            <a:r>
              <a:rPr lang="vi-VN" sz="2000" dirty="0"/>
              <a:t>Kích thước bộ filter là một trong những tham số quan trọng nhất của tầng convolution. Kích thước này tỉ lệ thuận với số tham số cần học tại mỗi tầng convolution và là tham số quyết định receptive field của tầng này. Kích thước phổ biến nhất của bộ filter là 3x3.</a:t>
            </a:r>
          </a:p>
          <a:p>
            <a:pPr marL="0" indent="0">
              <a:buNone/>
            </a:pPr>
            <a:r>
              <a:rPr lang="vi-VN" sz="2000" dirty="0"/>
              <a:t>Kích thước filter nhỏ được ưu tiên lựa chọn thay kích thước lớn vì những lý do sau:</a:t>
            </a:r>
            <a:endParaRPr lang="vi-VN" sz="2000" b="1" dirty="0"/>
          </a:p>
          <a:p>
            <a:endParaRPr lang="vi-VN" dirty="0"/>
          </a:p>
        </p:txBody>
      </p:sp>
      <p:graphicFrame>
        <p:nvGraphicFramePr>
          <p:cNvPr id="4" name="Table 4">
            <a:extLst>
              <a:ext uri="{FF2B5EF4-FFF2-40B4-BE49-F238E27FC236}">
                <a16:creationId xmlns:a16="http://schemas.microsoft.com/office/drawing/2014/main" id="{60035AF4-009C-457A-B066-3EE41A881B02}"/>
              </a:ext>
            </a:extLst>
          </p:cNvPr>
          <p:cNvGraphicFramePr>
            <a:graphicFrameLocks noGrp="1"/>
          </p:cNvGraphicFramePr>
          <p:nvPr>
            <p:extLst>
              <p:ext uri="{D42A27DB-BD31-4B8C-83A1-F6EECF244321}">
                <p14:modId xmlns:p14="http://schemas.microsoft.com/office/powerpoint/2010/main" val="4047940744"/>
              </p:ext>
            </p:extLst>
          </p:nvPr>
        </p:nvGraphicFramePr>
        <p:xfrm>
          <a:off x="1003180" y="3542190"/>
          <a:ext cx="9925232" cy="2530106"/>
        </p:xfrm>
        <a:graphic>
          <a:graphicData uri="http://schemas.openxmlformats.org/drawingml/2006/table">
            <a:tbl>
              <a:tblPr firstRow="1" bandRow="1">
                <a:tableStyleId>{5940675A-B579-460E-94D1-54222C63F5DA}</a:tableStyleId>
              </a:tblPr>
              <a:tblGrid>
                <a:gridCol w="4603195">
                  <a:extLst>
                    <a:ext uri="{9D8B030D-6E8A-4147-A177-3AD203B41FA5}">
                      <a16:colId xmlns:a16="http://schemas.microsoft.com/office/drawing/2014/main" val="3622063924"/>
                    </a:ext>
                  </a:extLst>
                </a:gridCol>
                <a:gridCol w="5322037">
                  <a:extLst>
                    <a:ext uri="{9D8B030D-6E8A-4147-A177-3AD203B41FA5}">
                      <a16:colId xmlns:a16="http://schemas.microsoft.com/office/drawing/2014/main" val="2217161554"/>
                    </a:ext>
                  </a:extLst>
                </a:gridCol>
              </a:tblGrid>
              <a:tr h="233161">
                <a:tc>
                  <a:txBody>
                    <a:bodyPr/>
                    <a:lstStyle/>
                    <a:p>
                      <a:r>
                        <a:rPr lang="vi-VN" sz="1400" dirty="0"/>
                        <a:t>Filter nhỏ</a:t>
                      </a:r>
                    </a:p>
                  </a:txBody>
                  <a:tcPr/>
                </a:tc>
                <a:tc>
                  <a:txBody>
                    <a:bodyPr/>
                    <a:lstStyle/>
                    <a:p>
                      <a:r>
                        <a:rPr lang="vi-VN" sz="1400" dirty="0"/>
                        <a:t>Filter lớn</a:t>
                      </a:r>
                    </a:p>
                  </a:txBody>
                  <a:tcPr/>
                </a:tc>
                <a:extLst>
                  <a:ext uri="{0D108BD9-81ED-4DB2-BD59-A6C34878D82A}">
                    <a16:rowId xmlns:a16="http://schemas.microsoft.com/office/drawing/2014/main" val="4103521944"/>
                  </a:ext>
                </a:extLst>
              </a:tr>
              <a:tr h="396373">
                <a:tc>
                  <a:txBody>
                    <a:bodyPr/>
                    <a:lstStyle/>
                    <a:p>
                      <a:r>
                        <a:rPr lang="vi-VN" sz="1400" dirty="0"/>
                        <a:t>Nhìn được một vùng nhỏ các pixel</a:t>
                      </a:r>
                    </a:p>
                  </a:txBody>
                  <a:tcPr/>
                </a:tc>
                <a:tc>
                  <a:txBody>
                    <a:bodyPr/>
                    <a:lstStyle/>
                    <a:p>
                      <a:r>
                        <a:rPr lang="vi-VN" sz="1400" b="0" i="0" kern="1200" dirty="0">
                          <a:solidFill>
                            <a:schemeClr val="tx1"/>
                          </a:solidFill>
                          <a:effectLst/>
                          <a:latin typeface="+mn-lt"/>
                          <a:ea typeface="+mn-ea"/>
                          <a:cs typeface="+mn-cs"/>
                        </a:rPr>
                        <a:t>Receptive field lớn</a:t>
                      </a:r>
                      <a:endParaRPr lang="vi-VN" sz="1400" dirty="0"/>
                    </a:p>
                  </a:txBody>
                  <a:tcPr/>
                </a:tc>
                <a:extLst>
                  <a:ext uri="{0D108BD9-81ED-4DB2-BD59-A6C34878D82A}">
                    <a16:rowId xmlns:a16="http://schemas.microsoft.com/office/drawing/2014/main" val="1583027368"/>
                  </a:ext>
                </a:extLst>
              </a:tr>
              <a:tr h="233161">
                <a:tc>
                  <a:txBody>
                    <a:bodyPr/>
                    <a:lstStyle/>
                    <a:p>
                      <a:r>
                        <a:rPr lang="vi-VN" sz="1400" dirty="0"/>
                        <a:t>Rút trích được đặc trưng có tính cục bộ cao.</a:t>
                      </a:r>
                    </a:p>
                  </a:txBody>
                  <a:tcPr/>
                </a:tc>
                <a:tc>
                  <a:txBody>
                    <a:bodyPr/>
                    <a:lstStyle/>
                    <a:p>
                      <a:r>
                        <a:rPr lang="vi-VN" sz="1400" b="0" i="0" kern="1200" dirty="0">
                          <a:solidFill>
                            <a:schemeClr val="tx1"/>
                          </a:solidFill>
                          <a:effectLst/>
                          <a:latin typeface="+mn-lt"/>
                          <a:ea typeface="+mn-ea"/>
                          <a:cs typeface="+mn-cs"/>
                        </a:rPr>
                        <a:t>Các đặc trưng có tính tổng quát hơn</a:t>
                      </a:r>
                      <a:endParaRPr lang="vi-VN" sz="1400" dirty="0"/>
                    </a:p>
                  </a:txBody>
                  <a:tcPr/>
                </a:tc>
                <a:extLst>
                  <a:ext uri="{0D108BD9-81ED-4DB2-BD59-A6C34878D82A}">
                    <a16:rowId xmlns:a16="http://schemas.microsoft.com/office/drawing/2014/main" val="2740261769"/>
                  </a:ext>
                </a:extLst>
              </a:tr>
              <a:tr h="233161">
                <a:tc>
                  <a:txBody>
                    <a:bodyPr/>
                    <a:lstStyle/>
                    <a:p>
                      <a:r>
                        <a:rPr lang="vi-VN" sz="1400" dirty="0"/>
                        <a:t>Phát hiện được các đặc trưng nhỏ hơn</a:t>
                      </a:r>
                    </a:p>
                  </a:txBody>
                  <a:tcPr/>
                </a:tc>
                <a:tc>
                  <a:txBody>
                    <a:bodyPr/>
                    <a:lstStyle/>
                    <a:p>
                      <a:r>
                        <a:rPr lang="vi-VN" sz="1400" b="0" i="0" kern="1200" dirty="0">
                          <a:solidFill>
                            <a:schemeClr val="tx1"/>
                          </a:solidFill>
                          <a:effectLst/>
                          <a:latin typeface="+mn-lt"/>
                          <a:ea typeface="+mn-ea"/>
                          <a:cs typeface="+mn-cs"/>
                        </a:rPr>
                        <a:t>Bắt được những phần cơ bản của bức ảnh</a:t>
                      </a:r>
                      <a:endParaRPr lang="vi-VN" sz="1400" dirty="0"/>
                    </a:p>
                  </a:txBody>
                  <a:tcPr/>
                </a:tc>
                <a:extLst>
                  <a:ext uri="{0D108BD9-81ED-4DB2-BD59-A6C34878D82A}">
                    <a16:rowId xmlns:a16="http://schemas.microsoft.com/office/drawing/2014/main" val="3645896911"/>
                  </a:ext>
                </a:extLst>
              </a:tr>
              <a:tr h="396373">
                <a:tc>
                  <a:txBody>
                    <a:bodyPr/>
                    <a:lstStyle/>
                    <a:p>
                      <a:r>
                        <a:rPr lang="vi-VN" sz="1400" dirty="0"/>
                        <a:t>Đặc trưng rút trích được sẽ đa dạng, hữu ích hơn ở tầng sau</a:t>
                      </a:r>
                    </a:p>
                  </a:txBody>
                  <a:tcPr/>
                </a:tc>
                <a:tc>
                  <a:txBody>
                    <a:bodyPr/>
                    <a:lstStyle/>
                    <a:p>
                      <a:r>
                        <a:rPr lang="vi-VN" sz="1400" b="0" i="0" kern="1200" dirty="0">
                          <a:solidFill>
                            <a:schemeClr val="tx1"/>
                          </a:solidFill>
                          <a:effectLst/>
                          <a:latin typeface="+mn-lt"/>
                          <a:ea typeface="+mn-ea"/>
                          <a:cs typeface="+mn-cs"/>
                        </a:rPr>
                        <a:t>Đặc trưng rút trích được ít đa dạng</a:t>
                      </a:r>
                      <a:endParaRPr lang="vi-VN" sz="1400" dirty="0"/>
                    </a:p>
                  </a:txBody>
                  <a:tcPr/>
                </a:tc>
                <a:extLst>
                  <a:ext uri="{0D108BD9-81ED-4DB2-BD59-A6C34878D82A}">
                    <a16:rowId xmlns:a16="http://schemas.microsoft.com/office/drawing/2014/main" val="818331274"/>
                  </a:ext>
                </a:extLst>
              </a:tr>
              <a:tr h="396373">
                <a:tc>
                  <a:txBody>
                    <a:bodyPr/>
                    <a:lstStyle/>
                    <a:p>
                      <a:r>
                        <a:rPr lang="vi-VN" sz="1400" dirty="0"/>
                        <a:t>Gỉam kích thước ảnh chậm, cho phép mạng sâu hơn</a:t>
                      </a:r>
                    </a:p>
                  </a:txBody>
                  <a:tcPr/>
                </a:tc>
                <a:tc>
                  <a:txBody>
                    <a:bodyPr/>
                    <a:lstStyle/>
                    <a:p>
                      <a:r>
                        <a:rPr lang="vi-VN" sz="1400" b="0" i="0" kern="1200" dirty="0">
                          <a:solidFill>
                            <a:schemeClr val="tx1"/>
                          </a:solidFill>
                          <a:effectLst/>
                          <a:latin typeface="+mn-lt"/>
                          <a:ea typeface="+mn-ea"/>
                          <a:cs typeface="+mn-cs"/>
                        </a:rPr>
                        <a:t>Giảm kích thước ảnh nhanh, do đó chỉ cho phép mạng nông</a:t>
                      </a:r>
                      <a:endParaRPr lang="vi-VN" sz="1400" dirty="0"/>
                    </a:p>
                  </a:txBody>
                  <a:tcPr/>
                </a:tc>
                <a:extLst>
                  <a:ext uri="{0D108BD9-81ED-4DB2-BD59-A6C34878D82A}">
                    <a16:rowId xmlns:a16="http://schemas.microsoft.com/office/drawing/2014/main" val="251272684"/>
                  </a:ext>
                </a:extLst>
              </a:tr>
              <a:tr h="233161">
                <a:tc>
                  <a:txBody>
                    <a:bodyPr/>
                    <a:lstStyle/>
                    <a:p>
                      <a:r>
                        <a:rPr lang="vi-VN" sz="1400" dirty="0"/>
                        <a:t>Ít trọng số hơn, chia sẻ trọng số tốt hơn</a:t>
                      </a:r>
                    </a:p>
                  </a:txBody>
                  <a:tcPr/>
                </a:tc>
                <a:tc>
                  <a:txBody>
                    <a:bodyPr/>
                    <a:lstStyle/>
                    <a:p>
                      <a:r>
                        <a:rPr lang="vi-VN" sz="1400" b="0" i="0" kern="1200" dirty="0">
                          <a:solidFill>
                            <a:schemeClr val="tx1"/>
                          </a:solidFill>
                          <a:effectLst/>
                          <a:latin typeface="+mn-lt"/>
                          <a:ea typeface="+mn-ea"/>
                          <a:cs typeface="+mn-cs"/>
                        </a:rPr>
                        <a:t>Chia sẽ trọng số ít ý nghĩa hơn</a:t>
                      </a:r>
                      <a:endParaRPr lang="vi-VN" sz="1400" dirty="0"/>
                    </a:p>
                  </a:txBody>
                  <a:tcPr/>
                </a:tc>
                <a:extLst>
                  <a:ext uri="{0D108BD9-81ED-4DB2-BD59-A6C34878D82A}">
                    <a16:rowId xmlns:a16="http://schemas.microsoft.com/office/drawing/2014/main" val="191186702"/>
                  </a:ext>
                </a:extLst>
              </a:tr>
            </a:tbl>
          </a:graphicData>
        </a:graphic>
      </p:graphicFrame>
    </p:spTree>
    <p:extLst>
      <p:ext uri="{BB962C8B-B14F-4D97-AF65-F5344CB8AC3E}">
        <p14:creationId xmlns:p14="http://schemas.microsoft.com/office/powerpoint/2010/main" val="2099419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E0E52-92D3-403E-9FEA-77EB8EC9DE36}"/>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id="{1CAF10C8-8755-4694-914D-8F0AFDBCFF7D}"/>
              </a:ext>
            </a:extLst>
          </p:cNvPr>
          <p:cNvSpPr>
            <a:spLocks noGrp="1"/>
          </p:cNvSpPr>
          <p:nvPr>
            <p:ph idx="1"/>
          </p:nvPr>
        </p:nvSpPr>
        <p:spPr/>
        <p:txBody>
          <a:bodyPr>
            <a:normAutofit/>
          </a:bodyPr>
          <a:lstStyle/>
          <a:p>
            <a:pPr marL="0" indent="0">
              <a:buNone/>
            </a:pPr>
            <a:r>
              <a:rPr lang="vi-VN" sz="2000" dirty="0"/>
              <a:t>Kích thước filter của tầng convolution hầu hết đều là số lẻ, ví dụ như 3x3 hay 5x5. Với kích thước filter lẻ, các giá trị của feature map sẽ xác định một tâm điểm ở tầng phía trước. Nếu chọn filter có kích thước 2x2, 4x4 thì chúng ta sẽ gặp khó khăn khi muốn tìm vị trí tương ứng của các giá trị feature map trên không gian ảnh.</a:t>
            </a:r>
          </a:p>
          <a:p>
            <a:pPr marL="0" indent="0">
              <a:buNone/>
            </a:pPr>
            <a:r>
              <a:rPr lang="vi-VN" sz="2000" dirty="0"/>
              <a:t>Tham số stride, thể hiện số pixel cần phải dịch chuyển mỗi khi trượt bộ filter qua bức ảnh. Ở ví dụ bên dưới, với tham số stride bằng 2, bộ filter sẽ dịch chuyển 2 pixel mỗi khi trượt bộ filter qua bức ảnh.</a:t>
            </a:r>
          </a:p>
          <a:p>
            <a:pPr marL="0" indent="0">
              <a:buNone/>
            </a:pPr>
            <a:endParaRPr lang="vi-VN" sz="2000" dirty="0"/>
          </a:p>
          <a:p>
            <a:pPr marL="0" indent="0">
              <a:buNone/>
            </a:pPr>
            <a:endParaRPr lang="vi-VN" sz="2000" dirty="0"/>
          </a:p>
          <a:p>
            <a:pPr marL="0" indent="0">
              <a:buNone/>
            </a:pPr>
            <a:endParaRPr lang="vi-VN" sz="2000" dirty="0"/>
          </a:p>
          <a:p>
            <a:pPr marL="0" indent="0">
              <a:buNone/>
            </a:pPr>
            <a:r>
              <a:rPr lang="vi-VN" sz="2000" dirty="0"/>
              <a:t>                          </a:t>
            </a:r>
          </a:p>
        </p:txBody>
      </p:sp>
      <p:graphicFrame>
        <p:nvGraphicFramePr>
          <p:cNvPr id="4" name="Table 4">
            <a:extLst>
              <a:ext uri="{FF2B5EF4-FFF2-40B4-BE49-F238E27FC236}">
                <a16:creationId xmlns:a16="http://schemas.microsoft.com/office/drawing/2014/main" id="{A8DA6C03-5A21-4A2A-8FD5-040EFB2CB652}"/>
              </a:ext>
            </a:extLst>
          </p:cNvPr>
          <p:cNvGraphicFramePr>
            <a:graphicFrameLocks noGrp="1"/>
          </p:cNvGraphicFramePr>
          <p:nvPr>
            <p:extLst>
              <p:ext uri="{D42A27DB-BD31-4B8C-83A1-F6EECF244321}">
                <p14:modId xmlns:p14="http://schemas.microsoft.com/office/powerpoint/2010/main" val="1284506077"/>
              </p:ext>
            </p:extLst>
          </p:nvPr>
        </p:nvGraphicFramePr>
        <p:xfrm>
          <a:off x="1012054" y="3977196"/>
          <a:ext cx="1775535" cy="1828800"/>
        </p:xfrm>
        <a:graphic>
          <a:graphicData uri="http://schemas.openxmlformats.org/drawingml/2006/table">
            <a:tbl>
              <a:tblPr firstRow="1" bandRow="1">
                <a:tableStyleId>{5940675A-B579-460E-94D1-54222C63F5DA}</a:tableStyleId>
              </a:tblPr>
              <a:tblGrid>
                <a:gridCol w="355107">
                  <a:extLst>
                    <a:ext uri="{9D8B030D-6E8A-4147-A177-3AD203B41FA5}">
                      <a16:colId xmlns:a16="http://schemas.microsoft.com/office/drawing/2014/main" val="3086266645"/>
                    </a:ext>
                  </a:extLst>
                </a:gridCol>
                <a:gridCol w="355107">
                  <a:extLst>
                    <a:ext uri="{9D8B030D-6E8A-4147-A177-3AD203B41FA5}">
                      <a16:colId xmlns:a16="http://schemas.microsoft.com/office/drawing/2014/main" val="957449218"/>
                    </a:ext>
                  </a:extLst>
                </a:gridCol>
                <a:gridCol w="355107">
                  <a:extLst>
                    <a:ext uri="{9D8B030D-6E8A-4147-A177-3AD203B41FA5}">
                      <a16:colId xmlns:a16="http://schemas.microsoft.com/office/drawing/2014/main" val="4000800006"/>
                    </a:ext>
                  </a:extLst>
                </a:gridCol>
                <a:gridCol w="355107">
                  <a:extLst>
                    <a:ext uri="{9D8B030D-6E8A-4147-A177-3AD203B41FA5}">
                      <a16:colId xmlns:a16="http://schemas.microsoft.com/office/drawing/2014/main" val="3460064762"/>
                    </a:ext>
                  </a:extLst>
                </a:gridCol>
                <a:gridCol w="355107">
                  <a:extLst>
                    <a:ext uri="{9D8B030D-6E8A-4147-A177-3AD203B41FA5}">
                      <a16:colId xmlns:a16="http://schemas.microsoft.com/office/drawing/2014/main" val="4030474252"/>
                    </a:ext>
                  </a:extLst>
                </a:gridCol>
              </a:tblGrid>
              <a:tr h="239697">
                <a:tc>
                  <a:txBody>
                    <a:bodyPr/>
                    <a:lstStyle/>
                    <a:p>
                      <a:endParaRPr lang="vi-VN" dirty="0">
                        <a:solidFill>
                          <a:srgbClr val="FF0000"/>
                        </a:solidFill>
                      </a:endParaRPr>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a:p>
                  </a:txBody>
                  <a:tcPr/>
                </a:tc>
                <a:tc>
                  <a:txBody>
                    <a:bodyPr/>
                    <a:lstStyle/>
                    <a:p>
                      <a:endParaRPr lang="vi-VN"/>
                    </a:p>
                  </a:txBody>
                  <a:tcPr/>
                </a:tc>
                <a:extLst>
                  <a:ext uri="{0D108BD9-81ED-4DB2-BD59-A6C34878D82A}">
                    <a16:rowId xmlns:a16="http://schemas.microsoft.com/office/drawing/2014/main" val="368305246"/>
                  </a:ext>
                </a:extLst>
              </a:tr>
              <a:tr h="239697">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a:p>
                  </a:txBody>
                  <a:tcPr/>
                </a:tc>
                <a:tc>
                  <a:txBody>
                    <a:bodyPr/>
                    <a:lstStyle/>
                    <a:p>
                      <a:endParaRPr lang="vi-VN" dirty="0"/>
                    </a:p>
                  </a:txBody>
                  <a:tcPr/>
                </a:tc>
                <a:extLst>
                  <a:ext uri="{0D108BD9-81ED-4DB2-BD59-A6C34878D82A}">
                    <a16:rowId xmlns:a16="http://schemas.microsoft.com/office/drawing/2014/main" val="2496961620"/>
                  </a:ext>
                </a:extLst>
              </a:tr>
              <a:tr h="239697">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tc>
                <a:tc>
                  <a:txBody>
                    <a:bodyPr/>
                    <a:lstStyle/>
                    <a:p>
                      <a:endParaRPr lang="vi-VN" dirty="0"/>
                    </a:p>
                  </a:txBody>
                  <a:tcPr/>
                </a:tc>
                <a:extLst>
                  <a:ext uri="{0D108BD9-81ED-4DB2-BD59-A6C34878D82A}">
                    <a16:rowId xmlns:a16="http://schemas.microsoft.com/office/drawing/2014/main" val="19273239"/>
                  </a:ext>
                </a:extLst>
              </a:tr>
              <a:tr h="239697">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extLst>
                  <a:ext uri="{0D108BD9-81ED-4DB2-BD59-A6C34878D82A}">
                    <a16:rowId xmlns:a16="http://schemas.microsoft.com/office/drawing/2014/main" val="4134183782"/>
                  </a:ext>
                </a:extLst>
              </a:tr>
              <a:tr h="239697">
                <a:tc>
                  <a:txBody>
                    <a:bodyPr/>
                    <a:lstStyle/>
                    <a:p>
                      <a:endParaRPr lang="vi-VN"/>
                    </a:p>
                  </a:txBody>
                  <a:tcPr/>
                </a:tc>
                <a:tc>
                  <a:txBody>
                    <a:bodyPr/>
                    <a:lstStyle/>
                    <a:p>
                      <a:endParaRPr lang="vi-VN"/>
                    </a:p>
                  </a:txBody>
                  <a:tcPr/>
                </a:tc>
                <a:tc>
                  <a:txBody>
                    <a:bodyPr/>
                    <a:lstStyle/>
                    <a:p>
                      <a:endParaRPr lang="vi-VN" dirty="0"/>
                    </a:p>
                  </a:txBody>
                  <a:tcPr/>
                </a:tc>
                <a:tc>
                  <a:txBody>
                    <a:bodyPr/>
                    <a:lstStyle/>
                    <a:p>
                      <a:endParaRPr lang="vi-VN"/>
                    </a:p>
                  </a:txBody>
                  <a:tcPr/>
                </a:tc>
                <a:tc>
                  <a:txBody>
                    <a:bodyPr/>
                    <a:lstStyle/>
                    <a:p>
                      <a:endParaRPr lang="vi-VN" dirty="0"/>
                    </a:p>
                  </a:txBody>
                  <a:tcPr/>
                </a:tc>
                <a:extLst>
                  <a:ext uri="{0D108BD9-81ED-4DB2-BD59-A6C34878D82A}">
                    <a16:rowId xmlns:a16="http://schemas.microsoft.com/office/drawing/2014/main" val="1083249967"/>
                  </a:ext>
                </a:extLst>
              </a:tr>
            </a:tbl>
          </a:graphicData>
        </a:graphic>
      </p:graphicFrame>
      <p:graphicFrame>
        <p:nvGraphicFramePr>
          <p:cNvPr id="6" name="Table 6">
            <a:extLst>
              <a:ext uri="{FF2B5EF4-FFF2-40B4-BE49-F238E27FC236}">
                <a16:creationId xmlns:a16="http://schemas.microsoft.com/office/drawing/2014/main" id="{5E427D1E-BB57-4E8C-97FA-A25706DCF69E}"/>
              </a:ext>
            </a:extLst>
          </p:cNvPr>
          <p:cNvGraphicFramePr>
            <a:graphicFrameLocks noGrp="1"/>
          </p:cNvGraphicFramePr>
          <p:nvPr>
            <p:extLst>
              <p:ext uri="{D42A27DB-BD31-4B8C-83A1-F6EECF244321}">
                <p14:modId xmlns:p14="http://schemas.microsoft.com/office/powerpoint/2010/main" val="2129879497"/>
              </p:ext>
            </p:extLst>
          </p:nvPr>
        </p:nvGraphicFramePr>
        <p:xfrm>
          <a:off x="3586577" y="3977197"/>
          <a:ext cx="1865790" cy="1828800"/>
        </p:xfrm>
        <a:graphic>
          <a:graphicData uri="http://schemas.openxmlformats.org/drawingml/2006/table">
            <a:tbl>
              <a:tblPr firstRow="1" bandRow="1">
                <a:tableStyleId>{5940675A-B579-460E-94D1-54222C63F5DA}</a:tableStyleId>
              </a:tblPr>
              <a:tblGrid>
                <a:gridCol w="373158">
                  <a:extLst>
                    <a:ext uri="{9D8B030D-6E8A-4147-A177-3AD203B41FA5}">
                      <a16:colId xmlns:a16="http://schemas.microsoft.com/office/drawing/2014/main" val="2047215831"/>
                    </a:ext>
                  </a:extLst>
                </a:gridCol>
                <a:gridCol w="373158">
                  <a:extLst>
                    <a:ext uri="{9D8B030D-6E8A-4147-A177-3AD203B41FA5}">
                      <a16:colId xmlns:a16="http://schemas.microsoft.com/office/drawing/2014/main" val="2961799758"/>
                    </a:ext>
                  </a:extLst>
                </a:gridCol>
                <a:gridCol w="373158">
                  <a:extLst>
                    <a:ext uri="{9D8B030D-6E8A-4147-A177-3AD203B41FA5}">
                      <a16:colId xmlns:a16="http://schemas.microsoft.com/office/drawing/2014/main" val="2348436069"/>
                    </a:ext>
                  </a:extLst>
                </a:gridCol>
                <a:gridCol w="373158">
                  <a:extLst>
                    <a:ext uri="{9D8B030D-6E8A-4147-A177-3AD203B41FA5}">
                      <a16:colId xmlns:a16="http://schemas.microsoft.com/office/drawing/2014/main" val="2935732899"/>
                    </a:ext>
                  </a:extLst>
                </a:gridCol>
                <a:gridCol w="373158">
                  <a:extLst>
                    <a:ext uri="{9D8B030D-6E8A-4147-A177-3AD203B41FA5}">
                      <a16:colId xmlns:a16="http://schemas.microsoft.com/office/drawing/2014/main" val="3073217070"/>
                    </a:ext>
                  </a:extLst>
                </a:gridCol>
              </a:tblGrid>
              <a:tr h="342678">
                <a:tc>
                  <a:txBody>
                    <a:bodyPr/>
                    <a:lstStyle/>
                    <a:p>
                      <a:endParaRPr lang="vi-VN"/>
                    </a:p>
                  </a:txBody>
                  <a:tcPr/>
                </a:tc>
                <a:tc>
                  <a:txBody>
                    <a:bodyPr/>
                    <a:lstStyle/>
                    <a:p>
                      <a:endParaRPr lang="vi-VN"/>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extLst>
                  <a:ext uri="{0D108BD9-81ED-4DB2-BD59-A6C34878D82A}">
                    <a16:rowId xmlns:a16="http://schemas.microsoft.com/office/drawing/2014/main" val="1297617708"/>
                  </a:ext>
                </a:extLst>
              </a:tr>
              <a:tr h="342678">
                <a:tc>
                  <a:txBody>
                    <a:bodyPr/>
                    <a:lstStyle/>
                    <a:p>
                      <a:endParaRPr lang="vi-VN"/>
                    </a:p>
                  </a:txBody>
                  <a:tcPr/>
                </a:tc>
                <a:tc>
                  <a:txBody>
                    <a:bodyPr/>
                    <a:lstStyle/>
                    <a:p>
                      <a:endParaRPr lang="vi-VN"/>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extLst>
                  <a:ext uri="{0D108BD9-81ED-4DB2-BD59-A6C34878D82A}">
                    <a16:rowId xmlns:a16="http://schemas.microsoft.com/office/drawing/2014/main" val="3815687385"/>
                  </a:ext>
                </a:extLst>
              </a:tr>
              <a:tr h="342678">
                <a:tc>
                  <a:txBody>
                    <a:bodyPr/>
                    <a:lstStyle/>
                    <a:p>
                      <a:endParaRPr lang="vi-VN"/>
                    </a:p>
                  </a:txBody>
                  <a:tcPr/>
                </a:tc>
                <a:tc>
                  <a:txBody>
                    <a:bodyPr/>
                    <a:lstStyle/>
                    <a:p>
                      <a:endParaRPr lang="vi-VN"/>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extLst>
                  <a:ext uri="{0D108BD9-81ED-4DB2-BD59-A6C34878D82A}">
                    <a16:rowId xmlns:a16="http://schemas.microsoft.com/office/drawing/2014/main" val="2701601936"/>
                  </a:ext>
                </a:extLst>
              </a:tr>
              <a:tr h="342678">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extLst>
                  <a:ext uri="{0D108BD9-81ED-4DB2-BD59-A6C34878D82A}">
                    <a16:rowId xmlns:a16="http://schemas.microsoft.com/office/drawing/2014/main" val="2578112399"/>
                  </a:ext>
                </a:extLst>
              </a:tr>
              <a:tr h="342678">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dirty="0"/>
                    </a:p>
                  </a:txBody>
                  <a:tcPr/>
                </a:tc>
                <a:extLst>
                  <a:ext uri="{0D108BD9-81ED-4DB2-BD59-A6C34878D82A}">
                    <a16:rowId xmlns:a16="http://schemas.microsoft.com/office/drawing/2014/main" val="1713652584"/>
                  </a:ext>
                </a:extLst>
              </a:tr>
            </a:tbl>
          </a:graphicData>
        </a:graphic>
      </p:graphicFrame>
      <p:sp>
        <p:nvSpPr>
          <p:cNvPr id="9" name="Arrow: Right 8">
            <a:extLst>
              <a:ext uri="{FF2B5EF4-FFF2-40B4-BE49-F238E27FC236}">
                <a16:creationId xmlns:a16="http://schemas.microsoft.com/office/drawing/2014/main" id="{684F4F20-A3EE-4791-9C60-4B40A7F94946}"/>
              </a:ext>
            </a:extLst>
          </p:cNvPr>
          <p:cNvSpPr/>
          <p:nvPr/>
        </p:nvSpPr>
        <p:spPr>
          <a:xfrm>
            <a:off x="2876365" y="4851400"/>
            <a:ext cx="621437" cy="13785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aphicFrame>
        <p:nvGraphicFramePr>
          <p:cNvPr id="10" name="Table 10">
            <a:extLst>
              <a:ext uri="{FF2B5EF4-FFF2-40B4-BE49-F238E27FC236}">
                <a16:creationId xmlns:a16="http://schemas.microsoft.com/office/drawing/2014/main" id="{DDCFBA54-EEC7-452C-82D9-EDF5C960A689}"/>
              </a:ext>
            </a:extLst>
          </p:cNvPr>
          <p:cNvGraphicFramePr>
            <a:graphicFrameLocks noGrp="1"/>
          </p:cNvGraphicFramePr>
          <p:nvPr>
            <p:extLst>
              <p:ext uri="{D42A27DB-BD31-4B8C-83A1-F6EECF244321}">
                <p14:modId xmlns:p14="http://schemas.microsoft.com/office/powerpoint/2010/main" val="3818203893"/>
              </p:ext>
            </p:extLst>
          </p:nvPr>
        </p:nvGraphicFramePr>
        <p:xfrm>
          <a:off x="6292050" y="3977196"/>
          <a:ext cx="1865790" cy="1828800"/>
        </p:xfrm>
        <a:graphic>
          <a:graphicData uri="http://schemas.openxmlformats.org/drawingml/2006/table">
            <a:tbl>
              <a:tblPr firstRow="1" bandRow="1">
                <a:tableStyleId>{5940675A-B579-460E-94D1-54222C63F5DA}</a:tableStyleId>
              </a:tblPr>
              <a:tblGrid>
                <a:gridCol w="373158">
                  <a:extLst>
                    <a:ext uri="{9D8B030D-6E8A-4147-A177-3AD203B41FA5}">
                      <a16:colId xmlns:a16="http://schemas.microsoft.com/office/drawing/2014/main" val="1940141842"/>
                    </a:ext>
                  </a:extLst>
                </a:gridCol>
                <a:gridCol w="373158">
                  <a:extLst>
                    <a:ext uri="{9D8B030D-6E8A-4147-A177-3AD203B41FA5}">
                      <a16:colId xmlns:a16="http://schemas.microsoft.com/office/drawing/2014/main" val="1347550506"/>
                    </a:ext>
                  </a:extLst>
                </a:gridCol>
                <a:gridCol w="373158">
                  <a:extLst>
                    <a:ext uri="{9D8B030D-6E8A-4147-A177-3AD203B41FA5}">
                      <a16:colId xmlns:a16="http://schemas.microsoft.com/office/drawing/2014/main" val="2565013452"/>
                    </a:ext>
                  </a:extLst>
                </a:gridCol>
                <a:gridCol w="373158">
                  <a:extLst>
                    <a:ext uri="{9D8B030D-6E8A-4147-A177-3AD203B41FA5}">
                      <a16:colId xmlns:a16="http://schemas.microsoft.com/office/drawing/2014/main" val="2508059224"/>
                    </a:ext>
                  </a:extLst>
                </a:gridCol>
                <a:gridCol w="373158">
                  <a:extLst>
                    <a:ext uri="{9D8B030D-6E8A-4147-A177-3AD203B41FA5}">
                      <a16:colId xmlns:a16="http://schemas.microsoft.com/office/drawing/2014/main" val="1273385350"/>
                    </a:ext>
                  </a:extLst>
                </a:gridCol>
              </a:tblGrid>
              <a:tr h="365760">
                <a:tc>
                  <a:txBody>
                    <a:bodyPr/>
                    <a:lstStyle/>
                    <a:p>
                      <a:endParaRPr lang="vi-VN"/>
                    </a:p>
                  </a:txBody>
                  <a:tcPr>
                    <a:solidFill>
                      <a:schemeClr val="bg1"/>
                    </a:solidFill>
                  </a:tcPr>
                </a:tc>
                <a:tc>
                  <a:txBody>
                    <a:bodyPr/>
                    <a:lstStyle/>
                    <a:p>
                      <a:endParaRPr lang="vi-VN"/>
                    </a:p>
                  </a:txBody>
                  <a:tcPr>
                    <a:solidFill>
                      <a:schemeClr val="bg1"/>
                    </a:solidFill>
                  </a:tcPr>
                </a:tc>
                <a:tc>
                  <a:txBody>
                    <a:bodyPr/>
                    <a:lstStyle/>
                    <a:p>
                      <a:endParaRPr lang="vi-VN"/>
                    </a:p>
                  </a:txBody>
                  <a:tcPr>
                    <a:solidFill>
                      <a:schemeClr val="bg1"/>
                    </a:solidFill>
                  </a:tcPr>
                </a:tc>
                <a:tc>
                  <a:txBody>
                    <a:bodyPr/>
                    <a:lstStyle/>
                    <a:p>
                      <a:endParaRPr lang="vi-VN" dirty="0"/>
                    </a:p>
                  </a:txBody>
                  <a:tcPr>
                    <a:solidFill>
                      <a:schemeClr val="bg1"/>
                    </a:solidFill>
                  </a:tcPr>
                </a:tc>
                <a:tc>
                  <a:txBody>
                    <a:bodyPr/>
                    <a:lstStyle/>
                    <a:p>
                      <a:endParaRPr lang="vi-VN"/>
                    </a:p>
                  </a:txBody>
                  <a:tcPr>
                    <a:solidFill>
                      <a:schemeClr val="bg1"/>
                    </a:solidFill>
                  </a:tcPr>
                </a:tc>
                <a:extLst>
                  <a:ext uri="{0D108BD9-81ED-4DB2-BD59-A6C34878D82A}">
                    <a16:rowId xmlns:a16="http://schemas.microsoft.com/office/drawing/2014/main" val="567308790"/>
                  </a:ext>
                </a:extLst>
              </a:tr>
              <a:tr h="365760">
                <a:tc>
                  <a:txBody>
                    <a:bodyPr/>
                    <a:lstStyle/>
                    <a:p>
                      <a:endParaRPr lang="vi-VN"/>
                    </a:p>
                  </a:txBody>
                  <a:tcPr>
                    <a:solidFill>
                      <a:schemeClr val="bg1"/>
                    </a:solidFill>
                  </a:tcPr>
                </a:tc>
                <a:tc>
                  <a:txBody>
                    <a:bodyPr/>
                    <a:lstStyle/>
                    <a:p>
                      <a:endParaRPr lang="vi-VN"/>
                    </a:p>
                  </a:txBody>
                  <a:tcPr>
                    <a:solidFill>
                      <a:schemeClr val="bg1"/>
                    </a:solidFill>
                  </a:tcPr>
                </a:tc>
                <a:tc>
                  <a:txBody>
                    <a:bodyPr/>
                    <a:lstStyle/>
                    <a:p>
                      <a:endParaRPr lang="vi-VN" dirty="0"/>
                    </a:p>
                  </a:txBody>
                  <a:tcPr>
                    <a:solidFill>
                      <a:schemeClr val="bg1"/>
                    </a:solidFill>
                  </a:tcPr>
                </a:tc>
                <a:tc>
                  <a:txBody>
                    <a:bodyPr/>
                    <a:lstStyle/>
                    <a:p>
                      <a:endParaRPr lang="vi-VN"/>
                    </a:p>
                  </a:txBody>
                  <a:tcPr>
                    <a:solidFill>
                      <a:schemeClr val="bg1"/>
                    </a:solidFill>
                  </a:tcPr>
                </a:tc>
                <a:tc>
                  <a:txBody>
                    <a:bodyPr/>
                    <a:lstStyle/>
                    <a:p>
                      <a:endParaRPr lang="vi-VN"/>
                    </a:p>
                  </a:txBody>
                  <a:tcPr>
                    <a:solidFill>
                      <a:schemeClr val="bg1"/>
                    </a:solidFill>
                  </a:tcPr>
                </a:tc>
                <a:extLst>
                  <a:ext uri="{0D108BD9-81ED-4DB2-BD59-A6C34878D82A}">
                    <a16:rowId xmlns:a16="http://schemas.microsoft.com/office/drawing/2014/main" val="1083572904"/>
                  </a:ext>
                </a:extLst>
              </a:tr>
              <a:tr h="365760">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a:p>
                  </a:txBody>
                  <a:tcPr>
                    <a:solidFill>
                      <a:schemeClr val="bg1"/>
                    </a:solidFill>
                  </a:tcPr>
                </a:tc>
                <a:tc>
                  <a:txBody>
                    <a:bodyPr/>
                    <a:lstStyle/>
                    <a:p>
                      <a:endParaRPr lang="vi-VN" dirty="0"/>
                    </a:p>
                  </a:txBody>
                  <a:tcPr>
                    <a:solidFill>
                      <a:schemeClr val="bg1"/>
                    </a:solidFill>
                  </a:tcPr>
                </a:tc>
                <a:extLst>
                  <a:ext uri="{0D108BD9-81ED-4DB2-BD59-A6C34878D82A}">
                    <a16:rowId xmlns:a16="http://schemas.microsoft.com/office/drawing/2014/main" val="1510068790"/>
                  </a:ext>
                </a:extLst>
              </a:tr>
              <a:tr h="365760">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a:p>
                  </a:txBody>
                  <a:tcPr>
                    <a:solidFill>
                      <a:schemeClr val="bg1"/>
                    </a:solidFill>
                  </a:tcPr>
                </a:tc>
                <a:tc>
                  <a:txBody>
                    <a:bodyPr/>
                    <a:lstStyle/>
                    <a:p>
                      <a:endParaRPr lang="vi-VN"/>
                    </a:p>
                  </a:txBody>
                  <a:tcPr>
                    <a:solidFill>
                      <a:schemeClr val="bg1"/>
                    </a:solidFill>
                  </a:tcPr>
                </a:tc>
                <a:extLst>
                  <a:ext uri="{0D108BD9-81ED-4DB2-BD59-A6C34878D82A}">
                    <a16:rowId xmlns:a16="http://schemas.microsoft.com/office/drawing/2014/main" val="3858371976"/>
                  </a:ext>
                </a:extLst>
              </a:tr>
              <a:tr h="365760">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a:p>
                  </a:txBody>
                  <a:tcPr>
                    <a:solidFill>
                      <a:schemeClr val="bg1"/>
                    </a:solidFill>
                  </a:tcPr>
                </a:tc>
                <a:tc>
                  <a:txBody>
                    <a:bodyPr/>
                    <a:lstStyle/>
                    <a:p>
                      <a:endParaRPr lang="vi-VN" dirty="0"/>
                    </a:p>
                  </a:txBody>
                  <a:tcPr>
                    <a:solidFill>
                      <a:schemeClr val="bg1"/>
                    </a:solidFill>
                  </a:tcPr>
                </a:tc>
                <a:extLst>
                  <a:ext uri="{0D108BD9-81ED-4DB2-BD59-A6C34878D82A}">
                    <a16:rowId xmlns:a16="http://schemas.microsoft.com/office/drawing/2014/main" val="2383359060"/>
                  </a:ext>
                </a:extLst>
              </a:tr>
            </a:tbl>
          </a:graphicData>
        </a:graphic>
      </p:graphicFrame>
      <p:sp>
        <p:nvSpPr>
          <p:cNvPr id="12" name="Arrow: Right 11">
            <a:extLst>
              <a:ext uri="{FF2B5EF4-FFF2-40B4-BE49-F238E27FC236}">
                <a16:creationId xmlns:a16="http://schemas.microsoft.com/office/drawing/2014/main" id="{A7CFEB05-8A31-4077-8084-0D165EDDD2DD}"/>
              </a:ext>
            </a:extLst>
          </p:cNvPr>
          <p:cNvSpPr/>
          <p:nvPr/>
        </p:nvSpPr>
        <p:spPr>
          <a:xfrm>
            <a:off x="5561490" y="4851400"/>
            <a:ext cx="621437" cy="13785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Arrow: Right 12">
            <a:extLst>
              <a:ext uri="{FF2B5EF4-FFF2-40B4-BE49-F238E27FC236}">
                <a16:creationId xmlns:a16="http://schemas.microsoft.com/office/drawing/2014/main" id="{68FABE95-189B-4C74-8D4D-C85388C756DB}"/>
              </a:ext>
            </a:extLst>
          </p:cNvPr>
          <p:cNvSpPr/>
          <p:nvPr/>
        </p:nvSpPr>
        <p:spPr>
          <a:xfrm>
            <a:off x="8259563" y="4851400"/>
            <a:ext cx="621437" cy="13785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aphicFrame>
        <p:nvGraphicFramePr>
          <p:cNvPr id="14" name="Table 14">
            <a:extLst>
              <a:ext uri="{FF2B5EF4-FFF2-40B4-BE49-F238E27FC236}">
                <a16:creationId xmlns:a16="http://schemas.microsoft.com/office/drawing/2014/main" id="{F8FA75C7-24BE-410C-9F5E-0A747CC81907}"/>
              </a:ext>
            </a:extLst>
          </p:cNvPr>
          <p:cNvGraphicFramePr>
            <a:graphicFrameLocks noGrp="1"/>
          </p:cNvGraphicFramePr>
          <p:nvPr>
            <p:extLst>
              <p:ext uri="{D42A27DB-BD31-4B8C-83A1-F6EECF244321}">
                <p14:modId xmlns:p14="http://schemas.microsoft.com/office/powerpoint/2010/main" val="2937666757"/>
              </p:ext>
            </p:extLst>
          </p:nvPr>
        </p:nvGraphicFramePr>
        <p:xfrm>
          <a:off x="8997523" y="3977195"/>
          <a:ext cx="1865790" cy="1828800"/>
        </p:xfrm>
        <a:graphic>
          <a:graphicData uri="http://schemas.openxmlformats.org/drawingml/2006/table">
            <a:tbl>
              <a:tblPr firstRow="1" bandRow="1">
                <a:tableStyleId>{5940675A-B579-460E-94D1-54222C63F5DA}</a:tableStyleId>
              </a:tblPr>
              <a:tblGrid>
                <a:gridCol w="373158">
                  <a:extLst>
                    <a:ext uri="{9D8B030D-6E8A-4147-A177-3AD203B41FA5}">
                      <a16:colId xmlns:a16="http://schemas.microsoft.com/office/drawing/2014/main" val="992594594"/>
                    </a:ext>
                  </a:extLst>
                </a:gridCol>
                <a:gridCol w="373158">
                  <a:extLst>
                    <a:ext uri="{9D8B030D-6E8A-4147-A177-3AD203B41FA5}">
                      <a16:colId xmlns:a16="http://schemas.microsoft.com/office/drawing/2014/main" val="1803010712"/>
                    </a:ext>
                  </a:extLst>
                </a:gridCol>
                <a:gridCol w="373158">
                  <a:extLst>
                    <a:ext uri="{9D8B030D-6E8A-4147-A177-3AD203B41FA5}">
                      <a16:colId xmlns:a16="http://schemas.microsoft.com/office/drawing/2014/main" val="1147998721"/>
                    </a:ext>
                  </a:extLst>
                </a:gridCol>
                <a:gridCol w="373158">
                  <a:extLst>
                    <a:ext uri="{9D8B030D-6E8A-4147-A177-3AD203B41FA5}">
                      <a16:colId xmlns:a16="http://schemas.microsoft.com/office/drawing/2014/main" val="310994228"/>
                    </a:ext>
                  </a:extLst>
                </a:gridCol>
                <a:gridCol w="373158">
                  <a:extLst>
                    <a:ext uri="{9D8B030D-6E8A-4147-A177-3AD203B41FA5}">
                      <a16:colId xmlns:a16="http://schemas.microsoft.com/office/drawing/2014/main" val="537572347"/>
                    </a:ext>
                  </a:extLst>
                </a:gridCol>
              </a:tblGrid>
              <a:tr h="365760">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extLst>
                  <a:ext uri="{0D108BD9-81ED-4DB2-BD59-A6C34878D82A}">
                    <a16:rowId xmlns:a16="http://schemas.microsoft.com/office/drawing/2014/main" val="3977042119"/>
                  </a:ext>
                </a:extLst>
              </a:tr>
              <a:tr h="365760">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tc>
                  <a:txBody>
                    <a:bodyPr/>
                    <a:lstStyle/>
                    <a:p>
                      <a:endParaRPr lang="vi-VN"/>
                    </a:p>
                  </a:txBody>
                  <a:tcPr/>
                </a:tc>
                <a:extLst>
                  <a:ext uri="{0D108BD9-81ED-4DB2-BD59-A6C34878D82A}">
                    <a16:rowId xmlns:a16="http://schemas.microsoft.com/office/drawing/2014/main" val="4172617697"/>
                  </a:ext>
                </a:extLst>
              </a:tr>
              <a:tr h="365760">
                <a:tc>
                  <a:txBody>
                    <a:bodyPr/>
                    <a:lstStyle/>
                    <a:p>
                      <a:endParaRPr lang="vi-VN" dirty="0"/>
                    </a:p>
                  </a:txBody>
                  <a:tcPr/>
                </a:tc>
                <a:tc>
                  <a:txBody>
                    <a:bodyPr/>
                    <a:lstStyle/>
                    <a:p>
                      <a:endParaRPr lang="vi-VN"/>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extLst>
                  <a:ext uri="{0D108BD9-81ED-4DB2-BD59-A6C34878D82A}">
                    <a16:rowId xmlns:a16="http://schemas.microsoft.com/office/drawing/2014/main" val="4104121899"/>
                  </a:ext>
                </a:extLst>
              </a:tr>
              <a:tr h="365760">
                <a:tc>
                  <a:txBody>
                    <a:bodyPr/>
                    <a:lstStyle/>
                    <a:p>
                      <a:endParaRPr lang="vi-VN"/>
                    </a:p>
                  </a:txBody>
                  <a:tcPr/>
                </a:tc>
                <a:tc>
                  <a:txBody>
                    <a:bodyPr/>
                    <a:lstStyle/>
                    <a:p>
                      <a:endParaRPr lang="vi-VN"/>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extLst>
                  <a:ext uri="{0D108BD9-81ED-4DB2-BD59-A6C34878D82A}">
                    <a16:rowId xmlns:a16="http://schemas.microsoft.com/office/drawing/2014/main" val="209859109"/>
                  </a:ext>
                </a:extLst>
              </a:tr>
              <a:tr h="365760">
                <a:tc>
                  <a:txBody>
                    <a:bodyPr/>
                    <a:lstStyle/>
                    <a:p>
                      <a:endParaRPr lang="vi-VN"/>
                    </a:p>
                  </a:txBody>
                  <a:tcPr/>
                </a:tc>
                <a:tc>
                  <a:txBody>
                    <a:bodyPr/>
                    <a:lstStyle/>
                    <a:p>
                      <a:endParaRPr lang="vi-VN"/>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extLst>
                  <a:ext uri="{0D108BD9-81ED-4DB2-BD59-A6C34878D82A}">
                    <a16:rowId xmlns:a16="http://schemas.microsoft.com/office/drawing/2014/main" val="646373759"/>
                  </a:ext>
                </a:extLst>
              </a:tr>
            </a:tbl>
          </a:graphicData>
        </a:graphic>
      </p:graphicFrame>
    </p:spTree>
    <p:extLst>
      <p:ext uri="{BB962C8B-B14F-4D97-AF65-F5344CB8AC3E}">
        <p14:creationId xmlns:p14="http://schemas.microsoft.com/office/powerpoint/2010/main" val="467456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F66BC-18A2-4E43-B54B-424DDA89F5BA}"/>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id="{3355DAC0-62F3-4A12-9E24-DA6B14FF5E18}"/>
              </a:ext>
            </a:extLst>
          </p:cNvPr>
          <p:cNvSpPr>
            <a:spLocks noGrp="1"/>
          </p:cNvSpPr>
          <p:nvPr>
            <p:ph idx="1"/>
          </p:nvPr>
        </p:nvSpPr>
        <p:spPr/>
        <p:txBody>
          <a:bodyPr>
            <a:normAutofit/>
          </a:bodyPr>
          <a:lstStyle/>
          <a:p>
            <a:pPr marL="0" indent="0">
              <a:buNone/>
            </a:pPr>
            <a:r>
              <a:rPr lang="vi-VN" sz="2000" dirty="0"/>
              <a:t>Khi áp dụng phép convolution thì ma trận đầu vào sẽ có nhỏ dần đi, do đó số layer của mô hình CNN sẽ bị giới hạn, và không thể xậy đựng deep nets mong muốn. Để giải quyết tình trạng này, cần padding vào ma trận đầu vào để đảm bảo kích thước đầu ra sau mỗi tầng convolution là không đổi. Do đó có thể xậy dựng được mô hình với số tầng convolution lớn tùy ý. Một cách đơn giản và phổ biến nhất để padding là sử dụng hàng số 0.</a:t>
            </a:r>
          </a:p>
        </p:txBody>
      </p:sp>
      <p:graphicFrame>
        <p:nvGraphicFramePr>
          <p:cNvPr id="6" name="Table 6">
            <a:extLst>
              <a:ext uri="{FF2B5EF4-FFF2-40B4-BE49-F238E27FC236}">
                <a16:creationId xmlns:a16="http://schemas.microsoft.com/office/drawing/2014/main" id="{D3C9FD70-2D10-424B-A043-7D36FE0A746B}"/>
              </a:ext>
            </a:extLst>
          </p:cNvPr>
          <p:cNvGraphicFramePr>
            <a:graphicFrameLocks noGrp="1"/>
          </p:cNvGraphicFramePr>
          <p:nvPr>
            <p:extLst>
              <p:ext uri="{D42A27DB-BD31-4B8C-83A1-F6EECF244321}">
                <p14:modId xmlns:p14="http://schemas.microsoft.com/office/powerpoint/2010/main" val="722880330"/>
              </p:ext>
            </p:extLst>
          </p:nvPr>
        </p:nvGraphicFramePr>
        <p:xfrm>
          <a:off x="2175028" y="3355760"/>
          <a:ext cx="3027283" cy="2698808"/>
        </p:xfrm>
        <a:graphic>
          <a:graphicData uri="http://schemas.openxmlformats.org/drawingml/2006/table">
            <a:tbl>
              <a:tblPr firstRow="1" bandRow="1">
                <a:tableStyleId>{5940675A-B579-460E-94D1-54222C63F5DA}</a:tableStyleId>
              </a:tblPr>
              <a:tblGrid>
                <a:gridCol w="432469">
                  <a:extLst>
                    <a:ext uri="{9D8B030D-6E8A-4147-A177-3AD203B41FA5}">
                      <a16:colId xmlns:a16="http://schemas.microsoft.com/office/drawing/2014/main" val="2228144848"/>
                    </a:ext>
                  </a:extLst>
                </a:gridCol>
                <a:gridCol w="432469">
                  <a:extLst>
                    <a:ext uri="{9D8B030D-6E8A-4147-A177-3AD203B41FA5}">
                      <a16:colId xmlns:a16="http://schemas.microsoft.com/office/drawing/2014/main" val="2542899196"/>
                    </a:ext>
                  </a:extLst>
                </a:gridCol>
                <a:gridCol w="432469">
                  <a:extLst>
                    <a:ext uri="{9D8B030D-6E8A-4147-A177-3AD203B41FA5}">
                      <a16:colId xmlns:a16="http://schemas.microsoft.com/office/drawing/2014/main" val="2133601392"/>
                    </a:ext>
                  </a:extLst>
                </a:gridCol>
                <a:gridCol w="432469">
                  <a:extLst>
                    <a:ext uri="{9D8B030D-6E8A-4147-A177-3AD203B41FA5}">
                      <a16:colId xmlns:a16="http://schemas.microsoft.com/office/drawing/2014/main" val="2127364851"/>
                    </a:ext>
                  </a:extLst>
                </a:gridCol>
                <a:gridCol w="432469">
                  <a:extLst>
                    <a:ext uri="{9D8B030D-6E8A-4147-A177-3AD203B41FA5}">
                      <a16:colId xmlns:a16="http://schemas.microsoft.com/office/drawing/2014/main" val="2074852593"/>
                    </a:ext>
                  </a:extLst>
                </a:gridCol>
                <a:gridCol w="432469">
                  <a:extLst>
                    <a:ext uri="{9D8B030D-6E8A-4147-A177-3AD203B41FA5}">
                      <a16:colId xmlns:a16="http://schemas.microsoft.com/office/drawing/2014/main" val="3097231294"/>
                    </a:ext>
                  </a:extLst>
                </a:gridCol>
                <a:gridCol w="432469">
                  <a:extLst>
                    <a:ext uri="{9D8B030D-6E8A-4147-A177-3AD203B41FA5}">
                      <a16:colId xmlns:a16="http://schemas.microsoft.com/office/drawing/2014/main" val="2702675442"/>
                    </a:ext>
                  </a:extLst>
                </a:gridCol>
              </a:tblGrid>
              <a:tr h="385544">
                <a:tc>
                  <a:txBody>
                    <a:bodyPr/>
                    <a:lstStyle/>
                    <a:p>
                      <a:r>
                        <a:rPr lang="vi-VN" dirty="0"/>
                        <a:t>0</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extLst>
                  <a:ext uri="{0D108BD9-81ED-4DB2-BD59-A6C34878D82A}">
                    <a16:rowId xmlns:a16="http://schemas.microsoft.com/office/drawing/2014/main" val="1272107447"/>
                  </a:ext>
                </a:extLst>
              </a:tr>
              <a:tr h="385544">
                <a:tc>
                  <a:txBody>
                    <a:bodyPr/>
                    <a:lstStyle/>
                    <a:p>
                      <a:r>
                        <a:rPr lang="vi-VN" dirty="0"/>
                        <a:t>0</a:t>
                      </a:r>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r>
                        <a:rPr lang="vi-VN" dirty="0"/>
                        <a:t>0</a:t>
                      </a:r>
                    </a:p>
                  </a:txBody>
                  <a:tcPr/>
                </a:tc>
                <a:extLst>
                  <a:ext uri="{0D108BD9-81ED-4DB2-BD59-A6C34878D82A}">
                    <a16:rowId xmlns:a16="http://schemas.microsoft.com/office/drawing/2014/main" val="202668766"/>
                  </a:ext>
                </a:extLst>
              </a:tr>
              <a:tr h="385544">
                <a:tc>
                  <a:txBody>
                    <a:bodyPr/>
                    <a:lstStyle/>
                    <a:p>
                      <a:r>
                        <a:rPr lang="vi-VN" dirty="0"/>
                        <a:t>0</a:t>
                      </a:r>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r>
                        <a:rPr lang="vi-VN" dirty="0"/>
                        <a:t>0</a:t>
                      </a:r>
                    </a:p>
                  </a:txBody>
                  <a:tcPr/>
                </a:tc>
                <a:extLst>
                  <a:ext uri="{0D108BD9-81ED-4DB2-BD59-A6C34878D82A}">
                    <a16:rowId xmlns:a16="http://schemas.microsoft.com/office/drawing/2014/main" val="2865346639"/>
                  </a:ext>
                </a:extLst>
              </a:tr>
              <a:tr h="385544">
                <a:tc>
                  <a:txBody>
                    <a:bodyPr/>
                    <a:lstStyle/>
                    <a:p>
                      <a:r>
                        <a:rPr lang="vi-VN" dirty="0"/>
                        <a:t>0</a:t>
                      </a:r>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r>
                        <a:rPr lang="vi-VN" dirty="0"/>
                        <a:t>0</a:t>
                      </a:r>
                    </a:p>
                  </a:txBody>
                  <a:tcPr/>
                </a:tc>
                <a:extLst>
                  <a:ext uri="{0D108BD9-81ED-4DB2-BD59-A6C34878D82A}">
                    <a16:rowId xmlns:a16="http://schemas.microsoft.com/office/drawing/2014/main" val="3622342443"/>
                  </a:ext>
                </a:extLst>
              </a:tr>
              <a:tr h="385544">
                <a:tc>
                  <a:txBody>
                    <a:bodyPr/>
                    <a:lstStyle/>
                    <a:p>
                      <a:r>
                        <a:rPr lang="vi-VN" dirty="0"/>
                        <a:t>0</a:t>
                      </a:r>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r>
                        <a:rPr lang="vi-VN" dirty="0"/>
                        <a:t>0</a:t>
                      </a:r>
                    </a:p>
                  </a:txBody>
                  <a:tcPr/>
                </a:tc>
                <a:extLst>
                  <a:ext uri="{0D108BD9-81ED-4DB2-BD59-A6C34878D82A}">
                    <a16:rowId xmlns:a16="http://schemas.microsoft.com/office/drawing/2014/main" val="3308062405"/>
                  </a:ext>
                </a:extLst>
              </a:tr>
              <a:tr h="385544">
                <a:tc>
                  <a:txBody>
                    <a:bodyPr/>
                    <a:lstStyle/>
                    <a:p>
                      <a:r>
                        <a:rPr lang="vi-VN" dirty="0"/>
                        <a:t>0</a:t>
                      </a:r>
                    </a:p>
                  </a:txBody>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endParaRPr lang="vi-VN" dirty="0"/>
                    </a:p>
                  </a:txBody>
                  <a:tcPr>
                    <a:solidFill>
                      <a:srgbClr val="FF0000"/>
                    </a:solidFill>
                  </a:tcPr>
                </a:tc>
                <a:tc>
                  <a:txBody>
                    <a:bodyPr/>
                    <a:lstStyle/>
                    <a:p>
                      <a:r>
                        <a:rPr lang="vi-VN" dirty="0"/>
                        <a:t>0</a:t>
                      </a:r>
                    </a:p>
                  </a:txBody>
                  <a:tcPr/>
                </a:tc>
                <a:extLst>
                  <a:ext uri="{0D108BD9-81ED-4DB2-BD59-A6C34878D82A}">
                    <a16:rowId xmlns:a16="http://schemas.microsoft.com/office/drawing/2014/main" val="827857572"/>
                  </a:ext>
                </a:extLst>
              </a:tr>
              <a:tr h="385544">
                <a:tc>
                  <a:txBody>
                    <a:bodyPr/>
                    <a:lstStyle/>
                    <a:p>
                      <a:r>
                        <a:rPr lang="vi-VN" dirty="0"/>
                        <a:t>0</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tc>
                  <a:txBody>
                    <a:bodyPr/>
                    <a:lstStyle/>
                    <a:p>
                      <a:r>
                        <a:rPr lang="vi-VN" dirty="0"/>
                        <a:t>0</a:t>
                      </a:r>
                    </a:p>
                  </a:txBody>
                  <a:tcPr/>
                </a:tc>
                <a:extLst>
                  <a:ext uri="{0D108BD9-81ED-4DB2-BD59-A6C34878D82A}">
                    <a16:rowId xmlns:a16="http://schemas.microsoft.com/office/drawing/2014/main" val="504629016"/>
                  </a:ext>
                </a:extLst>
              </a:tr>
            </a:tbl>
          </a:graphicData>
        </a:graphic>
      </p:graphicFrame>
    </p:spTree>
    <p:extLst>
      <p:ext uri="{BB962C8B-B14F-4D97-AF65-F5344CB8AC3E}">
        <p14:creationId xmlns:p14="http://schemas.microsoft.com/office/powerpoint/2010/main" val="3309883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73B1E-2BC0-46F4-A955-9DB36101B6F3}"/>
              </a:ext>
            </a:extLst>
          </p:cNvPr>
          <p:cNvSpPr>
            <a:spLocks noGrp="1"/>
          </p:cNvSpPr>
          <p:nvPr>
            <p:ph type="title"/>
          </p:nvPr>
        </p:nvSpPr>
        <p:spPr/>
        <p:txBody>
          <a:bodyPr/>
          <a:lstStyle/>
          <a:p>
            <a:r>
              <a:rPr lang="vi-VN" sz="2800" b="1" dirty="0"/>
              <a:t>Nonlinear Layer</a:t>
            </a:r>
            <a:br>
              <a:rPr lang="vi-VN" b="1" dirty="0"/>
            </a:br>
            <a:endParaRPr lang="vi-VN" dirty="0"/>
          </a:p>
        </p:txBody>
      </p:sp>
      <p:sp>
        <p:nvSpPr>
          <p:cNvPr id="3" name="Content Placeholder 2">
            <a:extLst>
              <a:ext uri="{FF2B5EF4-FFF2-40B4-BE49-F238E27FC236}">
                <a16:creationId xmlns:a16="http://schemas.microsoft.com/office/drawing/2014/main" id="{16F897FD-B6A6-4565-9C4F-154D944C9E00}"/>
              </a:ext>
            </a:extLst>
          </p:cNvPr>
          <p:cNvSpPr>
            <a:spLocks noGrp="1"/>
          </p:cNvSpPr>
          <p:nvPr>
            <p:ph idx="1"/>
          </p:nvPr>
        </p:nvSpPr>
        <p:spPr/>
        <p:txBody>
          <a:bodyPr>
            <a:normAutofit/>
          </a:bodyPr>
          <a:lstStyle/>
          <a:p>
            <a:pPr marL="0" indent="0" fontAlgn="base">
              <a:buNone/>
            </a:pPr>
            <a:r>
              <a:rPr lang="vi-VN" sz="2000" dirty="0"/>
              <a:t>Ta sử dụng hàm Sigmoid hoặc ReLU đặt ngay sau tầng convolution.</a:t>
            </a:r>
          </a:p>
          <a:p>
            <a:pPr marL="0" indent="0" fontAlgn="base">
              <a:buNone/>
            </a:pPr>
            <a:r>
              <a:rPr lang="vi-VN" sz="2000" dirty="0"/>
              <a:t>Sigmoid là một hàm phi tuyến với đầu vào là các số thực và cho kết quả nằm trong khoảng [0,1].</a:t>
            </a:r>
          </a:p>
          <a:p>
            <a:pPr marL="0" indent="0" fontAlgn="base">
              <a:buNone/>
            </a:pPr>
            <a:r>
              <a:rPr lang="vi-VN" sz="2000" dirty="0"/>
              <a:t>Công thức của hàm Sigmoid:</a:t>
            </a:r>
          </a:p>
          <a:p>
            <a:pPr marL="0" indent="0" fontAlgn="base">
              <a:buNone/>
            </a:pPr>
            <a:r>
              <a:rPr lang="vi-VN" sz="2000" dirty="0"/>
              <a:t>f(x)=1/(1+e^(-x)).</a:t>
            </a:r>
          </a:p>
          <a:p>
            <a:pPr marL="0" indent="0" fontAlgn="base">
              <a:buNone/>
            </a:pPr>
            <a:r>
              <a:rPr lang="vi-VN" sz="2000" dirty="0"/>
              <a:t>ReLU sẽ gán những giá trị âm bằng 0 và giữ nguyên giá trị của đầu vào khi lớn hơn 0.</a:t>
            </a:r>
          </a:p>
          <a:p>
            <a:pPr marL="0" indent="0" fontAlgn="base">
              <a:buNone/>
            </a:pPr>
            <a:r>
              <a:rPr lang="vi-VN" sz="2000" dirty="0"/>
              <a:t>Công thức của hàm ReLU:</a:t>
            </a:r>
          </a:p>
          <a:p>
            <a:pPr marL="0" indent="0" fontAlgn="base">
              <a:buNone/>
            </a:pPr>
            <a:r>
              <a:rPr lang="vi-VN" sz="2000" dirty="0"/>
              <a:t>f(x)=max(0,x).</a:t>
            </a:r>
          </a:p>
          <a:p>
            <a:pPr marL="0" indent="0" fontAlgn="base">
              <a:buNone/>
            </a:pPr>
            <a:endParaRPr lang="vi-VN" sz="2200" dirty="0"/>
          </a:p>
        </p:txBody>
      </p:sp>
    </p:spTree>
    <p:extLst>
      <p:ext uri="{BB962C8B-B14F-4D97-AF65-F5344CB8AC3E}">
        <p14:creationId xmlns:p14="http://schemas.microsoft.com/office/powerpoint/2010/main" val="2315736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DAD7C-B56B-4C2B-922E-89B19494759F}"/>
              </a:ext>
            </a:extLst>
          </p:cNvPr>
          <p:cNvSpPr>
            <a:spLocks noGrp="1"/>
          </p:cNvSpPr>
          <p:nvPr>
            <p:ph type="title"/>
          </p:nvPr>
        </p:nvSpPr>
        <p:spPr/>
        <p:txBody>
          <a:bodyPr/>
          <a:lstStyle/>
          <a:p>
            <a:r>
              <a:rPr lang="vi-VN" sz="2800" b="1" dirty="0"/>
              <a:t>Pooling Layer</a:t>
            </a:r>
            <a:br>
              <a:rPr lang="vi-VN" b="1" dirty="0"/>
            </a:br>
            <a:endParaRPr lang="vi-VN" dirty="0"/>
          </a:p>
        </p:txBody>
      </p:sp>
      <p:sp>
        <p:nvSpPr>
          <p:cNvPr id="3" name="Content Placeholder 2">
            <a:extLst>
              <a:ext uri="{FF2B5EF4-FFF2-40B4-BE49-F238E27FC236}">
                <a16:creationId xmlns:a16="http://schemas.microsoft.com/office/drawing/2014/main" id="{0237336E-4147-4F81-B02F-548D19861C85}"/>
              </a:ext>
            </a:extLst>
          </p:cNvPr>
          <p:cNvSpPr>
            <a:spLocks noGrp="1"/>
          </p:cNvSpPr>
          <p:nvPr>
            <p:ph idx="1"/>
          </p:nvPr>
        </p:nvSpPr>
        <p:spPr/>
        <p:txBody>
          <a:bodyPr>
            <a:normAutofit/>
          </a:bodyPr>
          <a:lstStyle/>
          <a:p>
            <a:pPr marL="0" indent="0">
              <a:buNone/>
            </a:pPr>
            <a:r>
              <a:rPr lang="vi-VN" sz="1800" dirty="0"/>
              <a:t>Sau hàm kích hoạt, thông thường ta sử dụng tầng pooling. Một số loại pooling layer phổ biến như là max-pooling, average (trung bình cộng) pooling, với chức năng chính là giảm chiều của tầng trước đó. Với một pooling có kích thước 2x2, các bạn cần phải trược filter 2x2 này trên những vùng ảnh có kích thước tương tự rồi sau đó tính max, hay average cho vùng ảnh đó.</a:t>
            </a:r>
          </a:p>
          <a:p>
            <a:pPr marL="0" indent="0">
              <a:buNone/>
            </a:pPr>
            <a:r>
              <a:rPr lang="vi-VN" sz="1800" dirty="0"/>
              <a:t>VD : </a:t>
            </a:r>
          </a:p>
          <a:p>
            <a:pPr marL="0" indent="0">
              <a:buNone/>
            </a:pPr>
            <a:endParaRPr lang="vi-VN" sz="2000" dirty="0"/>
          </a:p>
          <a:p>
            <a:pPr marL="0" indent="0">
              <a:buNone/>
            </a:pPr>
            <a:endParaRPr lang="vi-VN" sz="2000" dirty="0"/>
          </a:p>
          <a:p>
            <a:pPr marL="0" indent="0">
              <a:buNone/>
            </a:pPr>
            <a:r>
              <a:rPr lang="vi-VN" sz="2000" dirty="0"/>
              <a:t>                                                   Sau khi max-pooling</a:t>
            </a:r>
          </a:p>
          <a:p>
            <a:pPr marL="0" indent="0">
              <a:buNone/>
            </a:pPr>
            <a:r>
              <a:rPr lang="vi-VN" sz="2000" dirty="0"/>
              <a:t>                Đầu vào</a:t>
            </a:r>
          </a:p>
          <a:p>
            <a:pPr marL="0" indent="0">
              <a:buNone/>
            </a:pPr>
            <a:r>
              <a:rPr lang="vi-VN" sz="1800" dirty="0"/>
              <a:t>Ý tưởng tầng pooling là vị trí tuyệt đối của những đặc trưng trong không gian ảnh không còn cần thiết, thay vào đó vị trí tương đối giữ các đặc trưng đã đủ để phân loại đối tượng. Tầng pooling có khả năng giảm chiều cực kì nhiều, làm hạn chế overfit(quá tải) và giảm thời gian huấn luyện tốt.</a:t>
            </a:r>
          </a:p>
        </p:txBody>
      </p:sp>
      <p:graphicFrame>
        <p:nvGraphicFramePr>
          <p:cNvPr id="6" name="Table 6">
            <a:extLst>
              <a:ext uri="{FF2B5EF4-FFF2-40B4-BE49-F238E27FC236}">
                <a16:creationId xmlns:a16="http://schemas.microsoft.com/office/drawing/2014/main" id="{A1E3DADA-322F-49F5-A10B-C48EC724126C}"/>
              </a:ext>
            </a:extLst>
          </p:cNvPr>
          <p:cNvGraphicFramePr>
            <a:graphicFrameLocks noGrp="1"/>
          </p:cNvGraphicFramePr>
          <p:nvPr>
            <p:extLst>
              <p:ext uri="{D42A27DB-BD31-4B8C-83A1-F6EECF244321}">
                <p14:modId xmlns:p14="http://schemas.microsoft.com/office/powerpoint/2010/main" val="1646141091"/>
              </p:ext>
            </p:extLst>
          </p:nvPr>
        </p:nvGraphicFramePr>
        <p:xfrm>
          <a:off x="1669000" y="2956264"/>
          <a:ext cx="1553592" cy="1463040"/>
        </p:xfrm>
        <a:graphic>
          <a:graphicData uri="http://schemas.openxmlformats.org/drawingml/2006/table">
            <a:tbl>
              <a:tblPr firstRow="1" bandRow="1">
                <a:tableStyleId>{5940675A-B579-460E-94D1-54222C63F5DA}</a:tableStyleId>
              </a:tblPr>
              <a:tblGrid>
                <a:gridCol w="388398">
                  <a:extLst>
                    <a:ext uri="{9D8B030D-6E8A-4147-A177-3AD203B41FA5}">
                      <a16:colId xmlns:a16="http://schemas.microsoft.com/office/drawing/2014/main" val="83101200"/>
                    </a:ext>
                  </a:extLst>
                </a:gridCol>
                <a:gridCol w="388398">
                  <a:extLst>
                    <a:ext uri="{9D8B030D-6E8A-4147-A177-3AD203B41FA5}">
                      <a16:colId xmlns:a16="http://schemas.microsoft.com/office/drawing/2014/main" val="3760756823"/>
                    </a:ext>
                  </a:extLst>
                </a:gridCol>
                <a:gridCol w="388398">
                  <a:extLst>
                    <a:ext uri="{9D8B030D-6E8A-4147-A177-3AD203B41FA5}">
                      <a16:colId xmlns:a16="http://schemas.microsoft.com/office/drawing/2014/main" val="1893232859"/>
                    </a:ext>
                  </a:extLst>
                </a:gridCol>
                <a:gridCol w="388398">
                  <a:extLst>
                    <a:ext uri="{9D8B030D-6E8A-4147-A177-3AD203B41FA5}">
                      <a16:colId xmlns:a16="http://schemas.microsoft.com/office/drawing/2014/main" val="1097881690"/>
                    </a:ext>
                  </a:extLst>
                </a:gridCol>
              </a:tblGrid>
              <a:tr h="344010">
                <a:tc>
                  <a:txBody>
                    <a:bodyPr/>
                    <a:lstStyle/>
                    <a:p>
                      <a:r>
                        <a:rPr lang="vi-VN" dirty="0"/>
                        <a:t>1</a:t>
                      </a:r>
                    </a:p>
                  </a:txBody>
                  <a:tcPr>
                    <a:solidFill>
                      <a:schemeClr val="accent2"/>
                    </a:solidFill>
                  </a:tcPr>
                </a:tc>
                <a:tc>
                  <a:txBody>
                    <a:bodyPr/>
                    <a:lstStyle/>
                    <a:p>
                      <a:r>
                        <a:rPr lang="vi-VN" dirty="0"/>
                        <a:t>3</a:t>
                      </a:r>
                    </a:p>
                  </a:txBody>
                  <a:tcPr>
                    <a:solidFill>
                      <a:schemeClr val="accent2"/>
                    </a:solidFill>
                  </a:tcPr>
                </a:tc>
                <a:tc>
                  <a:txBody>
                    <a:bodyPr/>
                    <a:lstStyle/>
                    <a:p>
                      <a:r>
                        <a:rPr lang="vi-VN" dirty="0"/>
                        <a:t>4</a:t>
                      </a:r>
                    </a:p>
                  </a:txBody>
                  <a:tcPr>
                    <a:solidFill>
                      <a:schemeClr val="accent5">
                        <a:lumMod val="40000"/>
                        <a:lumOff val="60000"/>
                      </a:schemeClr>
                    </a:solidFill>
                  </a:tcPr>
                </a:tc>
                <a:tc>
                  <a:txBody>
                    <a:bodyPr/>
                    <a:lstStyle/>
                    <a:p>
                      <a:r>
                        <a:rPr lang="vi-VN" dirty="0"/>
                        <a:t>5</a:t>
                      </a:r>
                    </a:p>
                  </a:txBody>
                  <a:tcPr>
                    <a:solidFill>
                      <a:schemeClr val="accent5">
                        <a:lumMod val="40000"/>
                        <a:lumOff val="60000"/>
                      </a:schemeClr>
                    </a:solidFill>
                  </a:tcPr>
                </a:tc>
                <a:extLst>
                  <a:ext uri="{0D108BD9-81ED-4DB2-BD59-A6C34878D82A}">
                    <a16:rowId xmlns:a16="http://schemas.microsoft.com/office/drawing/2014/main" val="3128550353"/>
                  </a:ext>
                </a:extLst>
              </a:tr>
              <a:tr h="344010">
                <a:tc>
                  <a:txBody>
                    <a:bodyPr/>
                    <a:lstStyle/>
                    <a:p>
                      <a:r>
                        <a:rPr lang="vi-VN" dirty="0"/>
                        <a:t>1</a:t>
                      </a:r>
                    </a:p>
                  </a:txBody>
                  <a:tcPr>
                    <a:solidFill>
                      <a:schemeClr val="accent2"/>
                    </a:solidFill>
                  </a:tcPr>
                </a:tc>
                <a:tc>
                  <a:txBody>
                    <a:bodyPr/>
                    <a:lstStyle/>
                    <a:p>
                      <a:r>
                        <a:rPr lang="vi-VN" dirty="0"/>
                        <a:t>4</a:t>
                      </a:r>
                    </a:p>
                  </a:txBody>
                  <a:tcPr>
                    <a:solidFill>
                      <a:schemeClr val="accent2"/>
                    </a:solidFill>
                  </a:tcPr>
                </a:tc>
                <a:tc>
                  <a:txBody>
                    <a:bodyPr/>
                    <a:lstStyle/>
                    <a:p>
                      <a:r>
                        <a:rPr lang="vi-VN" dirty="0"/>
                        <a:t>7</a:t>
                      </a:r>
                    </a:p>
                  </a:txBody>
                  <a:tcPr>
                    <a:solidFill>
                      <a:schemeClr val="accent5">
                        <a:lumMod val="40000"/>
                        <a:lumOff val="60000"/>
                      </a:schemeClr>
                    </a:solidFill>
                  </a:tcPr>
                </a:tc>
                <a:tc>
                  <a:txBody>
                    <a:bodyPr/>
                    <a:lstStyle/>
                    <a:p>
                      <a:r>
                        <a:rPr lang="vi-VN" dirty="0"/>
                        <a:t>6</a:t>
                      </a:r>
                    </a:p>
                  </a:txBody>
                  <a:tcPr>
                    <a:solidFill>
                      <a:schemeClr val="accent5">
                        <a:lumMod val="40000"/>
                        <a:lumOff val="60000"/>
                      </a:schemeClr>
                    </a:solidFill>
                  </a:tcPr>
                </a:tc>
                <a:extLst>
                  <a:ext uri="{0D108BD9-81ED-4DB2-BD59-A6C34878D82A}">
                    <a16:rowId xmlns:a16="http://schemas.microsoft.com/office/drawing/2014/main" val="719327349"/>
                  </a:ext>
                </a:extLst>
              </a:tr>
              <a:tr h="344010">
                <a:tc>
                  <a:txBody>
                    <a:bodyPr/>
                    <a:lstStyle/>
                    <a:p>
                      <a:r>
                        <a:rPr lang="vi-VN" dirty="0"/>
                        <a:t>9</a:t>
                      </a:r>
                    </a:p>
                  </a:txBody>
                  <a:tcPr>
                    <a:solidFill>
                      <a:srgbClr val="92D050"/>
                    </a:solidFill>
                  </a:tcPr>
                </a:tc>
                <a:tc>
                  <a:txBody>
                    <a:bodyPr/>
                    <a:lstStyle/>
                    <a:p>
                      <a:r>
                        <a:rPr lang="vi-VN" dirty="0"/>
                        <a:t>8</a:t>
                      </a:r>
                    </a:p>
                  </a:txBody>
                  <a:tcPr>
                    <a:solidFill>
                      <a:srgbClr val="92D050"/>
                    </a:solidFill>
                  </a:tcPr>
                </a:tc>
                <a:tc>
                  <a:txBody>
                    <a:bodyPr/>
                    <a:lstStyle/>
                    <a:p>
                      <a:r>
                        <a:rPr lang="vi-VN" dirty="0"/>
                        <a:t>1 </a:t>
                      </a:r>
                    </a:p>
                  </a:txBody>
                  <a:tcPr/>
                </a:tc>
                <a:tc>
                  <a:txBody>
                    <a:bodyPr/>
                    <a:lstStyle/>
                    <a:p>
                      <a:r>
                        <a:rPr lang="vi-VN" dirty="0"/>
                        <a:t> 2</a:t>
                      </a:r>
                    </a:p>
                  </a:txBody>
                  <a:tcPr/>
                </a:tc>
                <a:extLst>
                  <a:ext uri="{0D108BD9-81ED-4DB2-BD59-A6C34878D82A}">
                    <a16:rowId xmlns:a16="http://schemas.microsoft.com/office/drawing/2014/main" val="3274732537"/>
                  </a:ext>
                </a:extLst>
              </a:tr>
              <a:tr h="344010">
                <a:tc>
                  <a:txBody>
                    <a:bodyPr/>
                    <a:lstStyle/>
                    <a:p>
                      <a:r>
                        <a:rPr lang="vi-VN" dirty="0"/>
                        <a:t>1 </a:t>
                      </a:r>
                    </a:p>
                  </a:txBody>
                  <a:tcPr>
                    <a:solidFill>
                      <a:srgbClr val="92D050"/>
                    </a:solidFill>
                  </a:tcPr>
                </a:tc>
                <a:tc>
                  <a:txBody>
                    <a:bodyPr/>
                    <a:lstStyle/>
                    <a:p>
                      <a:r>
                        <a:rPr lang="vi-VN" dirty="0"/>
                        <a:t>2</a:t>
                      </a:r>
                    </a:p>
                  </a:txBody>
                  <a:tcPr>
                    <a:solidFill>
                      <a:srgbClr val="92D050"/>
                    </a:solidFill>
                  </a:tcPr>
                </a:tc>
                <a:tc>
                  <a:txBody>
                    <a:bodyPr/>
                    <a:lstStyle/>
                    <a:p>
                      <a:r>
                        <a:rPr lang="vi-VN" dirty="0"/>
                        <a:t>3 </a:t>
                      </a:r>
                    </a:p>
                  </a:txBody>
                  <a:tcPr/>
                </a:tc>
                <a:tc>
                  <a:txBody>
                    <a:bodyPr/>
                    <a:lstStyle/>
                    <a:p>
                      <a:r>
                        <a:rPr lang="vi-VN" dirty="0"/>
                        <a:t>3</a:t>
                      </a:r>
                    </a:p>
                  </a:txBody>
                  <a:tcPr/>
                </a:tc>
                <a:extLst>
                  <a:ext uri="{0D108BD9-81ED-4DB2-BD59-A6C34878D82A}">
                    <a16:rowId xmlns:a16="http://schemas.microsoft.com/office/drawing/2014/main" val="3432840251"/>
                  </a:ext>
                </a:extLst>
              </a:tr>
            </a:tbl>
          </a:graphicData>
        </a:graphic>
      </p:graphicFrame>
      <p:graphicFrame>
        <p:nvGraphicFramePr>
          <p:cNvPr id="8" name="Table 8">
            <a:extLst>
              <a:ext uri="{FF2B5EF4-FFF2-40B4-BE49-F238E27FC236}">
                <a16:creationId xmlns:a16="http://schemas.microsoft.com/office/drawing/2014/main" id="{D423BF97-5EE1-4F08-98A1-9E6FF52393DE}"/>
              </a:ext>
            </a:extLst>
          </p:cNvPr>
          <p:cNvGraphicFramePr>
            <a:graphicFrameLocks noGrp="1"/>
          </p:cNvGraphicFramePr>
          <p:nvPr>
            <p:extLst>
              <p:ext uri="{D42A27DB-BD31-4B8C-83A1-F6EECF244321}">
                <p14:modId xmlns:p14="http://schemas.microsoft.com/office/powerpoint/2010/main" val="420961646"/>
              </p:ext>
            </p:extLst>
          </p:nvPr>
        </p:nvGraphicFramePr>
        <p:xfrm>
          <a:off x="5033638" y="3275860"/>
          <a:ext cx="825622" cy="781236"/>
        </p:xfrm>
        <a:graphic>
          <a:graphicData uri="http://schemas.openxmlformats.org/drawingml/2006/table">
            <a:tbl>
              <a:tblPr firstRow="1" bandRow="1">
                <a:tableStyleId>{5940675A-B579-460E-94D1-54222C63F5DA}</a:tableStyleId>
              </a:tblPr>
              <a:tblGrid>
                <a:gridCol w="412811">
                  <a:extLst>
                    <a:ext uri="{9D8B030D-6E8A-4147-A177-3AD203B41FA5}">
                      <a16:colId xmlns:a16="http://schemas.microsoft.com/office/drawing/2014/main" val="2029397421"/>
                    </a:ext>
                  </a:extLst>
                </a:gridCol>
                <a:gridCol w="412811">
                  <a:extLst>
                    <a:ext uri="{9D8B030D-6E8A-4147-A177-3AD203B41FA5}">
                      <a16:colId xmlns:a16="http://schemas.microsoft.com/office/drawing/2014/main" val="1365916042"/>
                    </a:ext>
                  </a:extLst>
                </a:gridCol>
              </a:tblGrid>
              <a:tr h="390618">
                <a:tc>
                  <a:txBody>
                    <a:bodyPr/>
                    <a:lstStyle/>
                    <a:p>
                      <a:r>
                        <a:rPr lang="vi-VN" dirty="0"/>
                        <a:t>4</a:t>
                      </a:r>
                    </a:p>
                  </a:txBody>
                  <a:tcPr>
                    <a:solidFill>
                      <a:schemeClr val="accent2"/>
                    </a:solidFill>
                  </a:tcPr>
                </a:tc>
                <a:tc>
                  <a:txBody>
                    <a:bodyPr/>
                    <a:lstStyle/>
                    <a:p>
                      <a:r>
                        <a:rPr lang="vi-VN" dirty="0"/>
                        <a:t>7</a:t>
                      </a:r>
                    </a:p>
                  </a:txBody>
                  <a:tcPr>
                    <a:solidFill>
                      <a:schemeClr val="accent5">
                        <a:lumMod val="40000"/>
                        <a:lumOff val="60000"/>
                      </a:schemeClr>
                    </a:solidFill>
                  </a:tcPr>
                </a:tc>
                <a:extLst>
                  <a:ext uri="{0D108BD9-81ED-4DB2-BD59-A6C34878D82A}">
                    <a16:rowId xmlns:a16="http://schemas.microsoft.com/office/drawing/2014/main" val="1487167602"/>
                  </a:ext>
                </a:extLst>
              </a:tr>
              <a:tr h="390618">
                <a:tc>
                  <a:txBody>
                    <a:bodyPr/>
                    <a:lstStyle/>
                    <a:p>
                      <a:r>
                        <a:rPr lang="vi-VN" dirty="0"/>
                        <a:t>9</a:t>
                      </a:r>
                    </a:p>
                  </a:txBody>
                  <a:tcPr>
                    <a:solidFill>
                      <a:srgbClr val="92D050"/>
                    </a:solidFill>
                  </a:tcPr>
                </a:tc>
                <a:tc>
                  <a:txBody>
                    <a:bodyPr/>
                    <a:lstStyle/>
                    <a:p>
                      <a:r>
                        <a:rPr lang="vi-VN" dirty="0"/>
                        <a:t>3</a:t>
                      </a:r>
                    </a:p>
                  </a:txBody>
                  <a:tcPr/>
                </a:tc>
                <a:extLst>
                  <a:ext uri="{0D108BD9-81ED-4DB2-BD59-A6C34878D82A}">
                    <a16:rowId xmlns:a16="http://schemas.microsoft.com/office/drawing/2014/main" val="3621790579"/>
                  </a:ext>
                </a:extLst>
              </a:tr>
            </a:tbl>
          </a:graphicData>
        </a:graphic>
      </p:graphicFrame>
    </p:spTree>
    <p:extLst>
      <p:ext uri="{BB962C8B-B14F-4D97-AF65-F5344CB8AC3E}">
        <p14:creationId xmlns:p14="http://schemas.microsoft.com/office/powerpoint/2010/main" val="3973377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87E93-AA10-4685-AD95-CA0AE73664EF}"/>
              </a:ext>
            </a:extLst>
          </p:cNvPr>
          <p:cNvSpPr>
            <a:spLocks noGrp="1"/>
          </p:cNvSpPr>
          <p:nvPr>
            <p:ph type="title"/>
          </p:nvPr>
        </p:nvSpPr>
        <p:spPr/>
        <p:txBody>
          <a:bodyPr/>
          <a:lstStyle/>
          <a:p>
            <a:r>
              <a:rPr lang="vi-VN" sz="2800" b="1" dirty="0"/>
              <a:t>Fully Connected Layer</a:t>
            </a:r>
            <a:br>
              <a:rPr lang="vi-VN" b="1" dirty="0"/>
            </a:br>
            <a:endParaRPr lang="vi-VN" dirty="0"/>
          </a:p>
        </p:txBody>
      </p:sp>
      <p:sp>
        <p:nvSpPr>
          <p:cNvPr id="3" name="Content Placeholder 2">
            <a:extLst>
              <a:ext uri="{FF2B5EF4-FFF2-40B4-BE49-F238E27FC236}">
                <a16:creationId xmlns:a16="http://schemas.microsoft.com/office/drawing/2014/main" id="{77865DE8-014B-4298-BE90-E54992A98FE9}"/>
              </a:ext>
            </a:extLst>
          </p:cNvPr>
          <p:cNvSpPr>
            <a:spLocks noGrp="1"/>
          </p:cNvSpPr>
          <p:nvPr>
            <p:ph idx="1"/>
          </p:nvPr>
        </p:nvSpPr>
        <p:spPr/>
        <p:txBody>
          <a:bodyPr>
            <a:normAutofit/>
          </a:bodyPr>
          <a:lstStyle/>
          <a:p>
            <a:pPr marL="0" indent="0" fontAlgn="base">
              <a:buNone/>
            </a:pPr>
            <a:r>
              <a:rPr lang="vi-VN" sz="2000" dirty="0"/>
              <a:t>Tầng cuối cùng của mô hình CNN trong bài toán phân loại ảnh là tầng fully connected layer. Tầng này có chức năng chuyển ma trận đặc trưng ở tầng trước thành vector chứa xác suất của các đối tượng cần được dự đoán. Ví dụ, trong bài toán phân loại số viết tay MNIST có 10 lớp tương ứng 10 số từ 0-9, tầng fully connected layer sẽ chuyển ma trận đặc trưng của tầng trước thành vector có 10 chiều thể hiện xác suất của 10 lớp tương ứng.</a:t>
            </a:r>
          </a:p>
          <a:p>
            <a:pPr marL="0" indent="0" fontAlgn="base">
              <a:buNone/>
            </a:pPr>
            <a:r>
              <a:rPr lang="vi-VN" sz="2000" dirty="0"/>
              <a:t>Và cuối cùng, quá trình huấn luyện mô hình CNN cho bài toán phân loại ảnh cũng tương tự như huấn luyện các mô hình khác. Chúng ta cần có hàm độ lỗi để tính sai </a:t>
            </a:r>
            <a:r>
              <a:rPr lang="vi-VN" sz="2000"/>
              <a:t>số giữa </a:t>
            </a:r>
            <a:r>
              <a:rPr lang="vi-VN" sz="2000" dirty="0"/>
              <a:t>dự đoán của mô hình và nhãn chính xác, cũng như sử dụng thuật toán backpropagation cho quá trình cập nhật trọng số.</a:t>
            </a:r>
          </a:p>
          <a:p>
            <a:endParaRPr lang="vi-VN" dirty="0"/>
          </a:p>
        </p:txBody>
      </p:sp>
    </p:spTree>
    <p:extLst>
      <p:ext uri="{BB962C8B-B14F-4D97-AF65-F5344CB8AC3E}">
        <p14:creationId xmlns:p14="http://schemas.microsoft.com/office/powerpoint/2010/main" val="33950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1508</Words>
  <Application>Microsoft Office PowerPoint</Application>
  <PresentationFormat>Widescreen</PresentationFormat>
  <Paragraphs>125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Ngô Minh Quang MSSV:20173326  Đề tài: Tìm hiểu Convolutional Neural Networks cho phân loại ảnh. </vt:lpstr>
      <vt:lpstr>Giới Thiệu </vt:lpstr>
      <vt:lpstr>Cấu trúc CNN </vt:lpstr>
      <vt:lpstr>Convolution Layer </vt:lpstr>
      <vt:lpstr> </vt:lpstr>
      <vt:lpstr>PowerPoint Presentation</vt:lpstr>
      <vt:lpstr>PowerPoint Presentation</vt:lpstr>
      <vt:lpstr>PowerPoint Presentation</vt:lpstr>
      <vt:lpstr>Nonlinear Layer </vt:lpstr>
      <vt:lpstr>Pooling Layer </vt:lpstr>
      <vt:lpstr>Fully Connected Layer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Ngô Minh Quang MSSV:20173326  Đề tài: Tìm Hiểu Convolutional Neural Networks Cho Phân Loại Ảnh</dc:title>
  <dc:creator>Ngo Minh Quang 20173326</dc:creator>
  <cp:lastModifiedBy>Ngo Minh Quang 20173326</cp:lastModifiedBy>
  <cp:revision>19</cp:revision>
  <dcterms:created xsi:type="dcterms:W3CDTF">2020-05-07T18:45:51Z</dcterms:created>
  <dcterms:modified xsi:type="dcterms:W3CDTF">2020-05-20T03:34:23Z</dcterms:modified>
</cp:coreProperties>
</file>